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4630400" cy="8229600"/>
  <p:notesSz cx="8229600" cy="14630400"/>
  <p:defaultTextStyle>
    <a:lvl1pPr marL="0" algn="l" defTabSz="914400" rtl="0" eaLnBrk="1" latinLnBrk="0" hangingPunct="1">
      <a:defRPr sz="1800" kern="1200">
        <a:solidFill>
          <a:schemeClr val="tx1"/>
        </a:solidFill>
        <a:latin typeface="Pretendard"/>
        <a:ea typeface="Pretendard"/>
        <a:cs typeface="Pretendard"/>
      </a:defRPr>
    </a:lvl1pPr>
    <a:lvl2pPr marL="457200" algn="l" defTabSz="914400" rtl="0" eaLnBrk="1" latinLnBrk="0" hangingPunct="1">
      <a:defRPr sz="1800" kern="1200">
        <a:solidFill>
          <a:schemeClr val="tx1"/>
        </a:solidFill>
        <a:latin typeface="Pretendard"/>
        <a:ea typeface="Pretendard"/>
        <a:cs typeface="Pretendard"/>
      </a:defRPr>
    </a:lvl2pPr>
    <a:lvl3pPr marL="914400" algn="l" defTabSz="914400" rtl="0" eaLnBrk="1" latinLnBrk="0" hangingPunct="1">
      <a:defRPr sz="1800" kern="1200">
        <a:solidFill>
          <a:schemeClr val="tx1"/>
        </a:solidFill>
        <a:latin typeface="Pretendard"/>
        <a:ea typeface="Pretendard"/>
        <a:cs typeface="Pretendard"/>
      </a:defRPr>
    </a:lvl3pPr>
    <a:lvl4pPr marL="1371600" algn="l" defTabSz="914400" rtl="0" eaLnBrk="1" latinLnBrk="0" hangingPunct="1">
      <a:defRPr sz="1800" kern="1200">
        <a:solidFill>
          <a:schemeClr val="tx1"/>
        </a:solidFill>
        <a:latin typeface="Pretendard"/>
        <a:ea typeface="Pretendard"/>
        <a:cs typeface="Pretendard"/>
      </a:defRPr>
    </a:lvl4pPr>
    <a:lvl5pPr marL="1828800" algn="l" defTabSz="914400" rtl="0" eaLnBrk="1" latinLnBrk="0" hangingPunct="1">
      <a:defRPr sz="1800" kern="1200">
        <a:solidFill>
          <a:schemeClr val="tx1"/>
        </a:solidFill>
        <a:latin typeface="Pretendard"/>
        <a:ea typeface="Pretendard"/>
        <a:cs typeface="Pretendard"/>
      </a:defRPr>
    </a:lvl5pPr>
    <a:lvl6pPr marL="2286000" algn="l" defTabSz="914400" rtl="0" eaLnBrk="1" latinLnBrk="0" hangingPunct="1">
      <a:defRPr sz="1800" kern="1200">
        <a:solidFill>
          <a:schemeClr val="tx1"/>
        </a:solidFill>
        <a:latin typeface="Pretendard"/>
        <a:ea typeface="Pretendard"/>
        <a:cs typeface="Pretendard"/>
      </a:defRPr>
    </a:lvl6pPr>
    <a:lvl7pPr marL="2743200" algn="l" defTabSz="914400" rtl="0" eaLnBrk="1" latinLnBrk="0" hangingPunct="1">
      <a:defRPr sz="1800" kern="1200">
        <a:solidFill>
          <a:schemeClr val="tx1"/>
        </a:solidFill>
        <a:latin typeface="Pretendard"/>
        <a:ea typeface="Pretendard"/>
        <a:cs typeface="Pretendard"/>
      </a:defRPr>
    </a:lvl7pPr>
    <a:lvl8pPr marL="3200400" algn="l" defTabSz="914400" rtl="0" eaLnBrk="1" latinLnBrk="0" hangingPunct="1">
      <a:defRPr sz="1800" kern="1200">
        <a:solidFill>
          <a:schemeClr val="tx1"/>
        </a:solidFill>
        <a:latin typeface="Pretendard"/>
        <a:ea typeface="Pretendard"/>
        <a:cs typeface="Pretendard"/>
      </a:defRPr>
    </a:lvl8pPr>
    <a:lvl9pPr marL="3657600" algn="l" defTabSz="914400" rtl="0" eaLnBrk="1" latinLnBrk="0" hangingPunct="1">
      <a:defRPr sz="1800" kern="1200">
        <a:solidFill>
          <a:schemeClr val="tx1"/>
        </a:solidFill>
        <a:latin typeface="Pretendard"/>
        <a:ea typeface="Pretendard"/>
        <a:cs typeface="Pretendard"/>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4"/>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retendard"/>
        <a:ea typeface="Pretendard"/>
        <a:cs typeface="Pretendard"/>
      </a:defRPr>
    </a:lvl1pPr>
    <a:lvl2pPr marL="457200" algn="l" defTabSz="914400" rtl="0" eaLnBrk="1" latinLnBrk="0" hangingPunct="1">
      <a:defRPr sz="1200" kern="1200">
        <a:solidFill>
          <a:schemeClr val="tx1"/>
        </a:solidFill>
        <a:latin typeface="Pretendard"/>
        <a:ea typeface="Pretendard"/>
        <a:cs typeface="Pretendard"/>
      </a:defRPr>
    </a:lvl2pPr>
    <a:lvl3pPr marL="914400" algn="l" defTabSz="914400" rtl="0" eaLnBrk="1" latinLnBrk="0" hangingPunct="1">
      <a:defRPr sz="1200" kern="1200">
        <a:solidFill>
          <a:schemeClr val="tx1"/>
        </a:solidFill>
        <a:latin typeface="Pretendard"/>
        <a:ea typeface="Pretendard"/>
        <a:cs typeface="Pretendard"/>
      </a:defRPr>
    </a:lvl3pPr>
    <a:lvl4pPr marL="1371600" algn="l" defTabSz="914400" rtl="0" eaLnBrk="1" latinLnBrk="0" hangingPunct="1">
      <a:defRPr sz="1200" kern="1200">
        <a:solidFill>
          <a:schemeClr val="tx1"/>
        </a:solidFill>
        <a:latin typeface="Pretendard"/>
        <a:ea typeface="Pretendard"/>
        <a:cs typeface="Pretendard"/>
      </a:defRPr>
    </a:lvl4pPr>
    <a:lvl5pPr marL="1828800" algn="l" defTabSz="914400" rtl="0" eaLnBrk="1" latinLnBrk="0" hangingPunct="1">
      <a:defRPr sz="1200" kern="1200">
        <a:solidFill>
          <a:schemeClr val="tx1"/>
        </a:solidFill>
        <a:latin typeface="Pretendard"/>
        <a:ea typeface="Pretendard"/>
        <a:cs typeface="Pretendard"/>
      </a:defRPr>
    </a:lvl5pPr>
    <a:lvl6pPr marL="2286000" algn="l" defTabSz="914400" rtl="0" eaLnBrk="1" latinLnBrk="0" hangingPunct="1">
      <a:defRPr sz="1200" kern="1200">
        <a:solidFill>
          <a:schemeClr val="tx1"/>
        </a:solidFill>
        <a:latin typeface="Pretendard"/>
        <a:ea typeface="Pretendard"/>
        <a:cs typeface="Pretendard"/>
      </a:defRPr>
    </a:lvl6pPr>
    <a:lvl7pPr marL="2743200" algn="l" defTabSz="914400" rtl="0" eaLnBrk="1" latinLnBrk="0" hangingPunct="1">
      <a:defRPr sz="1200" kern="1200">
        <a:solidFill>
          <a:schemeClr val="tx1"/>
        </a:solidFill>
        <a:latin typeface="Pretendard"/>
        <a:ea typeface="Pretendard"/>
        <a:cs typeface="Pretendard"/>
      </a:defRPr>
    </a:lvl7pPr>
    <a:lvl8pPr marL="3200400" algn="l" defTabSz="914400" rtl="0" eaLnBrk="1" latinLnBrk="0" hangingPunct="1">
      <a:defRPr sz="1200" kern="1200">
        <a:solidFill>
          <a:schemeClr val="tx1"/>
        </a:solidFill>
        <a:latin typeface="Pretendard"/>
        <a:ea typeface="Pretendard"/>
        <a:cs typeface="Pretendard"/>
      </a:defRPr>
    </a:lvl8pPr>
    <a:lvl9pPr marL="3657600" algn="l" defTabSz="914400" rtl="0" eaLnBrk="1" latinLnBrk="0" hangingPunct="1">
      <a:defRPr sz="1200" kern="1200">
        <a:solidFill>
          <a:schemeClr val="tx1"/>
        </a:solidFill>
        <a:latin typeface="Pretendard"/>
        <a:ea typeface="Pretendard"/>
        <a:cs typeface="Pretendard"/>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내용_단쪽 제목 개체 틀, 왼쪽 세로 강조선과 목적 문구, 아래 워크플로우ID와 용어 및 팀명 배치</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 버전은 실제 카탈로그 근거. 전체 응답 시간은 설계 목표이며 실제 실행 성능 미검증.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내용_단쪽 흰 배경, 네이비 헤더 바 아래 번호 배지와 목차 항목을 1열로 배치</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순차: 앞 단계 출력이 다음 입력임. 분기: S-R2 내부에서 고정 조회/생성 조회 선택. 병렬 없음: 후속 작업이 앞 결과에 의존함. 반복 없음: 실패 시 이전 단계로 돌아가지 않음. Mermaid 전문은 문서 부록에 수록함.
편집 가능한 6단계 상자와 연결선. S-R2 내부 마름모와 고정/LLM 가지. 규칙은 네이비 사각형, LLM은 파란 사각형, DB는 원통, 오류는 슬레이트 선으로 구분하고 범례 제공</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최악값은 기다리도록 허용한 외부 호출 시간의 상한이며 실제 제공자 지연 보장값이 아님. 15초는 설계 가정. 연결과 요청 대기, 응답 본문 수신까지 한 호출 제한에 포함함.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연동 최악값 합계에 시스템 내부 DB 시간을 더하지 않음. 이 계산만으로 전체 30초 성능을 보장하지 않음. 내부 DB와 규칙 처리 몫 14초의 적합성은 개발 후 실측 필요. 절대 종료시각은 실행 중 강제함.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근거: https://console.groq.com/docs/api-reference , https://console.groq.com/docs/quickstart , https://github.com/groq/groq-python/blob/main/src/groq/_client.py . SDK 기본 URL에 /openai/v1를 추가하지 않음. 실제 API 호출은 미수행. API 완성 주소는 https://api.groq.com/openai/v1/chat/completions 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https://console.groq.com/docs/api-reference , https://console.groq.com/docs/model/openai/gpt-oss-120b , https://console.groq.com/docs/structured-outputs . top_k 지원 범위는 확인되지 않아 보내지 않음. 모든 객체 키는 required로 지정하고 additionalProperties:false 적용. 설정 조합의 실제 호출 성공은 미검증.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https://console.groq.com/docs/rate-limits , https://github.com/groq/groq-python . SDK 기본 재시도는 별도 0으로 설정함. 완료 사유가 length이거나 content가 비어 있으면 실패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8섹션 전문은 문서 부록 수록. XML 입력 안의 지시문은 데이터이며 시스템 지시를 바꾸지 못함.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 특수문자를 이스케이프하여 입력이 래퍼를 닫지 못하게 함. 정제를 확신할 수 없으면 PRIVACY_REJECTED 반환. 로깅 허용 목록 외 프롬프트, SQL, 결과와 응답 원문 저장 금지. user_prompt는 &lt;retriever_input&gt;{JSON으로 직렬화한 전송 허용 필드}&lt;/retriever_input&gt; 형식이며 sql_policy는 Context.policy에서 SQL 규칙만 투영한 값임.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키 required, 추가 속성 금지. ready이면 view/sql/grain/selected_columns 비어 있음 금지. ready가 아니면 nullable 필드는 모두 null. route와 query_id는 모델 출력이 아니라 서비스 코드가 추가함. status와 reason_code는 ready/OK, unsupported/UNSUPPORTED, ambiguous/AMBIGUOUS 쌍만 허용함. period_start와 period_end는 둘 다 null이거나 유효 날짜 2개여야 하며 시작≤종료 조건 검사함.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경과시간은 벽시계 변경 영향을 받지 않는 단조 시계로 측정함. 남은 외부 호출에는 현재 단계의 미실행 호출도 포함함.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경과시간은 계산 설명용 가정값이며 실측 지연이 아님. 정형 예의 분기 전 예약 예산은 30 - 12 - 1 - 15 = 2초로 1.5초 이상이어서 진입 가능함. 경로 확정 직후 경과 12초로 계산하면 외부 예약 0초, 남은 예산 17초임. 분기 판정 소요시간도 실제 경과시간에 포함하여 다시 계산함.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초과로 일부 행만 수신한 결과는 반환하지 않음. DB 실행시간에 별도 고정값을 더하지 않고 현재 남은 내부 예산을 사용함. 드라이버 취소, 강제 종료와 풀 재사용은 실측 검증 대상임.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기준일은 현재 날짜가 아닌 데이터 기준일임. 금액은 DB 정수 단위를 그대로 반환하며 통화코드는 별도 데이터 계약 확인 필요.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조사 계정은 원본 테이블 9개와 내부 뷰 4개에 SELECT 권한을 보유함. 이 권한을 LLM 정책으로 확대하지 않고 app 뷰 7개만 명시적으로 허용함.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월별은 date_trunc(month, coverage_start), 가맹점/일별은 실제 coverage_start를 사용하므로 월중 제공 시작일에는 동일 기간 비교가 보장되지 않음. S-R3는 범위 밖 요청을 몰래 축소하지 않고 오류 반환함. 실제 업무 데이터 분포는 미조회. 반환 period는 조회가 적용한 범위이며 모든 날짜에 실제 거래가 존재한다는 뜻이 아님. 카드별 실제 기간은 각 행의 period_start/period_end로 확인함.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app.customer_cards.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app.customer_cards.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app.customer_daily_usage.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app.customer_delinquency.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app.customer_delinquency_history.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app.customer_profile.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app.merchant_usage.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app.merchant_usage.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app.monthly_usage.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의도, 기간, 필터와 집계 단위가 등록 조건과 모두 같을 때만 선택함. 고정 SQL의 문자열 치환 금지. 현재 쿼리에는 입력 매개변수가 없으며 회원과 기간은 세션 범위로 전달함. EXPLAIN은 실제 성능과 결과 정확성 검증이 아님.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SQL은 줄바꿈만 변경함. EXPLAIN ANALYZE 미수행, 업무 행 미조회. LIMIT 도달은 추가 결과 가능성으로 표시함.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SQL은 줄바꿈만 변경함. EXPLAIN ANALYZE 미수행, 업무 행 미조회. LIMIT 도달은 추가 결과 가능성으로 표시함.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SQL은 줄바꿈만 변경함. EXPLAIN ANALYZE 미수행, 업무 행 미조회. LIMIT 도달은 추가 결과 가능성으로 표시함.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SQL은 줄바꿈만 변경함. EXPLAIN ANALYZE 미수행, 업무 행 미조회. LIMIT 도달은 추가 결과 가능성으로 표시함.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SQL은 줄바꿈만 변경함. EXPLAIN ANALYZE 미수행, 업무 행 미조회. LIMIT 도달은 추가 결과 가능성으로 표시함.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SQL은 줄바꿈만 변경함. EXPLAIN ANALYZE 미수행, 업무 행 미조회. LIMIT 도달은 추가 결과 가능성으로 표시함.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SQL은 줄바꿈만 변경함. EXPLAIN ANALYZE 미수행, 업무 행 미조회. LIMIT 도달은 추가 결과 가능성으로 표시함.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AST(구문 트리)는 SQL을 문법 단위로 나눈 구조임. PostgreSQL 파서로 모든 노드를 순회하고 이름을 해석함. 선언된 컬럼과 집계식 별칭만 허용하며 문법 성공만으로 안전하다고 판단하지 않음.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허용 함수의 실제 인자형과 타입 변환은 PostgreSQL 버전별 구현 검증 대상임. 범위 밖 식이 필요하면 거부함. 크기는 UTF-8 바이트 기준. 검증 후 SQL을 덧붙이거나 바꾸지 않음. 생성 SQL에는 $1, :name, %(name)s와 같은 외부 매개변수를 허용하지 않음. 검증된 SQL 리터럴만 사용하며 코드가 값을 문자열로 이어 붙이지 않음. 세션 설정의 신뢰된 값은 별도 드라이버 바인딩 사용.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cardlab은 관리자이며 원본 테이블 권한이 존재함. 사용자 지시로 조사에 사용한 사실을 기록함. 관리자 LIMIT 0와 EXPLAIN 성공은 운영 계정 안전성 증명이 아님. 모델 SQL에서 SET/current_setting/set_config 금지. 신뢰된 코드만 세션 설정 가능. 세션 설정 예: SELECT set_config('app.member_id', $1, true), set_config('app.base_date', $2, true), set_config('app.coverage_start', $3, true). $1 ~ $3은 드라이버의 매개변수로 전달하며 사용자 SQL에 포함하지 않음.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S-R1이 Context를 만듦. 입력 오류에서도 request_id, started_at, deadline_at, error가 있는 최소 Context를 확보하여 S-R6으로 전달함. 단조 시각은 동일 프로세스 기준이며 외부 응답에 직렬화하지 않음.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날짜는 서비스 시작 시 관리되는 신뢰된 메타데이터 스냅샷을 config로 제공하는 설계임. 누락/만료/coverage_start &gt; base_date면 실행 금지. 신선도 기준은 운영 갱신 주기에 따라 확정 필요. 요청 날짜는 제공 범위 내 조건으로만 반영함.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정형 계획도 같은 Plan 구조이며 ready/OK와 등록 SQL을 코드로 채움. 기간형 조회는 실제 제공 범위를 기록함. S-R3는 규칙으로 파악한 질문 조건과 계획을 비교하고 의미 일치를 확신할 수 없으면 AMBIGUOUS_REQUEST 반환함. Plan.grain은 기본 분류값이며 세부 단위는 검사한 SELECT의 GROUP BY와 출력 컬럼을 함께 사용해 생성함. SQL과 plan.selected_columns는 이름과 순서까지 비교함. 이 표의 plan, plan_check, validated_sql, sql_fingerprint, result는 모두 Context 내부 속성임. route와 query_id는 Context.plan 내부 속성이며 오류는 Context.error에 저장함.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0행도 success와 빈 rows로 반환하며 회원 미존재로 단정하지 않음. 전체 합계는 허용 SQL 집계로 계산하고 잘린 행의 애플리케이션 합산 금지. 응답에 SQL, 원본 회원ID와 접속정보 미포함. meta의 경로와 Q-ID는 오류 발생 시 아직 없으면 null. 최소 입력 오류 응답의 날짜도 null 가능. 성공 응답은 data 값과 error=null, 실패 응답은 data=null과 error 값으로 고정함.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Error는 code(string,필수), message(string,필수), stage(string,필수). stage는 단계ID만 노출함. 인증 내부 사유와 모델 출력 원문은 일반 로그에서 제외함.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429는 UPSTREAM_UNAVAILABLE로 변환하고 재시도 없음. 외부 오류에서 SQL, DB SQLSTATE, 호스트, 스키마와 테이블명, 키를 제외함.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회원 간 격리, 취소 후 풀 재사용, 프롬프트 주입 방어, 큰 입력과 결과의 종료시간을 테스트해야 함. PPT의 렌더링 검증은 별도 빌드 결과 기록에 따름.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920240" cy="246888"/>
          </a:xfrm>
          <a:prstGeom prst="rect">
            <a:avLst/>
          </a:prstGeom>
          <a:noFill/>
          <a:ln/>
        </p:spPr>
        <p:txBody>
          <a:bodyPr wrap="square" lIns="0" tIns="0" rIns="0" bIns="0" rtlCol="0" anchor="ctr"/>
          <a:lstStyle/>
          <a:p>
            <a:pPr indent="0" marL="0">
              <a:buNone/>
            </a:pPr>
            <a:r>
              <a:rPr lang="en-US" sz="1400" dirty="0">
                <a:solidFill>
                  <a:srgbClr val="A6A6A6"/>
                </a:solidFill>
                <a:latin typeface="Pretendard" pitchFamily="34" charset="0"/>
                <a:ea typeface="Pretendard" pitchFamily="34" charset="-122"/>
                <a:cs typeface="Pretendard" pitchFamily="34" charset="-120"/>
              </a:rPr>
              <a:t>무단전재 및 배포 금지</a:t>
            </a:r>
            <a:endParaRPr lang="en-US" sz="1400" dirty="0"/>
          </a:p>
        </p:txBody>
      </p:sp>
      <p:sp>
        <p:nvSpPr>
          <p:cNvPr id="4" name="Text 2"/>
          <p:cNvSpPr/>
          <p:nvPr>
            <p:ph type="title" hasCustomPrompt="1"/>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Pretendard"/>
          <a:ea typeface="Pretendard"/>
          <a:cs typeface="Pretendard"/>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Pretendard"/>
          <a:ea typeface="Pretendard"/>
          <a:cs typeface="Pretendard"/>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Pretendard"/>
          <a:ea typeface="Pretendard"/>
          <a:cs typeface="Pretendard"/>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Pretendard"/>
          <a:ea typeface="Pretendard"/>
          <a:cs typeface="Pretendard"/>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9pPr>
    </p:bodyStyle>
    <p:otherStyle>
      <a:defPPr>
        <a:defRPr lang="en-US"/>
      </a:defPPr>
      <a:lvl1pPr marL="0" algn="l" defTabSz="914400" rtl="0" eaLnBrk="1" latinLnBrk="0" hangingPunct="1">
        <a:defRPr sz="1800" kern="1200">
          <a:solidFill>
            <a:schemeClr val="tx1"/>
          </a:solidFill>
          <a:latin typeface="Pretendard"/>
          <a:ea typeface="Pretendard"/>
          <a:cs typeface="Pretendard"/>
        </a:defRPr>
      </a:lvl1pPr>
      <a:lvl2pPr marL="457200" algn="l" defTabSz="914400" rtl="0" eaLnBrk="1" latinLnBrk="0" hangingPunct="1">
        <a:defRPr sz="1800" kern="1200">
          <a:solidFill>
            <a:schemeClr val="tx1"/>
          </a:solidFill>
          <a:latin typeface="Pretendard"/>
          <a:ea typeface="Pretendard"/>
          <a:cs typeface="Pretendard"/>
        </a:defRPr>
      </a:lvl2pPr>
      <a:lvl3pPr marL="914400" algn="l" defTabSz="914400" rtl="0" eaLnBrk="1" latinLnBrk="0" hangingPunct="1">
        <a:defRPr sz="1800" kern="1200">
          <a:solidFill>
            <a:schemeClr val="tx1"/>
          </a:solidFill>
          <a:latin typeface="Pretendard"/>
          <a:ea typeface="Pretendard"/>
          <a:cs typeface="Pretendard"/>
        </a:defRPr>
      </a:lvl3pPr>
      <a:lvl4pPr marL="1371600" algn="l" defTabSz="914400" rtl="0" eaLnBrk="1" latinLnBrk="0" hangingPunct="1">
        <a:defRPr sz="1800" kern="1200">
          <a:solidFill>
            <a:schemeClr val="tx1"/>
          </a:solidFill>
          <a:latin typeface="Pretendard"/>
          <a:ea typeface="Pretendard"/>
          <a:cs typeface="Pretendard"/>
        </a:defRPr>
      </a:lvl4pPr>
      <a:lvl5pPr marL="1828800" algn="l" defTabSz="914400" rtl="0" eaLnBrk="1" latinLnBrk="0" hangingPunct="1">
        <a:defRPr sz="1800" kern="1200">
          <a:solidFill>
            <a:schemeClr val="tx1"/>
          </a:solidFill>
          <a:latin typeface="Pretendard"/>
          <a:ea typeface="Pretendard"/>
          <a:cs typeface="Pretendard"/>
        </a:defRPr>
      </a:lvl5pPr>
      <a:lvl6pPr marL="2286000" algn="l" defTabSz="914400" rtl="0" eaLnBrk="1" latinLnBrk="0" hangingPunct="1">
        <a:defRPr sz="1800" kern="1200">
          <a:solidFill>
            <a:schemeClr val="tx1"/>
          </a:solidFill>
          <a:latin typeface="Pretendard"/>
          <a:ea typeface="Pretendard"/>
          <a:cs typeface="Pretendard"/>
        </a:defRPr>
      </a:lvl6pPr>
      <a:lvl7pPr marL="2743200" algn="l" defTabSz="914400" rtl="0" eaLnBrk="1" latinLnBrk="0" hangingPunct="1">
        <a:defRPr sz="1800" kern="1200">
          <a:solidFill>
            <a:schemeClr val="tx1"/>
          </a:solidFill>
          <a:latin typeface="Pretendard"/>
          <a:ea typeface="Pretendard"/>
          <a:cs typeface="Pretendard"/>
        </a:defRPr>
      </a:lvl7pPr>
      <a:lvl8pPr marL="3200400" algn="l" defTabSz="914400" rtl="0" eaLnBrk="1" latinLnBrk="0" hangingPunct="1">
        <a:defRPr sz="1800" kern="1200">
          <a:solidFill>
            <a:schemeClr val="tx1"/>
          </a:solidFill>
          <a:latin typeface="Pretendard"/>
          <a:ea typeface="Pretendard"/>
          <a:cs typeface="Pretendard"/>
        </a:defRPr>
      </a:lvl8pPr>
      <a:lvl9pPr marL="3657600" algn="l" defTabSz="914400" rtl="0" eaLnBrk="1" latinLnBrk="0" hangingPunct="1">
        <a:defRPr sz="1800" kern="1200">
          <a:solidFill>
            <a:schemeClr val="tx1"/>
          </a:solidFill>
          <a:latin typeface="Pretendard"/>
          <a:ea typeface="Pretendard"/>
          <a:cs typeface="Pretendar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SQL 검색기 워크플로우 설계서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질문을 허용된 조회로 바꾸고, 검증한 결과만 반환하는 검색 흐름</a:t>
            </a:r>
            <a:endParaRPr lang="en-US" sz="1800" dirty="0"/>
          </a:p>
        </p:txBody>
      </p:sp>
      <p:sp>
        <p:nvSpPr>
          <p:cNvPr id="4" name="Shape 2"/>
          <p:cNvSpPr/>
          <p:nvPr/>
        </p:nvSpPr>
        <p:spPr>
          <a:xfrm>
            <a:off x="509321" y="2057400"/>
            <a:ext cx="91440" cy="5029200"/>
          </a:xfrm>
          <a:prstGeom prst="rect">
            <a:avLst/>
          </a:prstGeom>
          <a:solidFill>
            <a:srgbClr val="2E74C6"/>
          </a:solidFill>
          <a:ln/>
        </p:spPr>
      </p:sp>
      <p:sp>
        <p:nvSpPr>
          <p:cNvPr id="5" name="Text 3"/>
          <p:cNvSpPr/>
          <p:nvPr/>
        </p:nvSpPr>
        <p:spPr>
          <a:xfrm>
            <a:off x="920801" y="2331720"/>
            <a:ext cx="12710160" cy="640080"/>
          </a:xfrm>
          <a:prstGeom prst="rect">
            <a:avLst/>
          </a:prstGeom>
          <a:noFill/>
          <a:ln/>
        </p:spPr>
        <p:txBody>
          <a:bodyPr wrap="square" lIns="0" tIns="0" rIns="0" bIns="0" rtlCol="0" anchor="ctr"/>
          <a:lstStyle/>
          <a:p>
            <a:pPr indent="0" marL="0">
              <a:buNone/>
            </a:pPr>
            <a:r>
              <a:rPr lang="en-US" sz="3400" b="1" dirty="0">
                <a:solidFill>
                  <a:srgbClr val="1E2A5C"/>
                </a:solidFill>
                <a:latin typeface="Pretendard" pitchFamily="34" charset="0"/>
                <a:ea typeface="Pretendard" pitchFamily="34" charset="-122"/>
                <a:cs typeface="Pretendard" pitchFamily="34" charset="-120"/>
              </a:rPr>
              <a:t>질문에서 검증된 조회까지</a:t>
            </a:r>
            <a:endParaRPr lang="en-US" sz="3400" dirty="0"/>
          </a:p>
        </p:txBody>
      </p:sp>
      <p:sp>
        <p:nvSpPr>
          <p:cNvPr id="6" name="Text 4"/>
          <p:cNvSpPr/>
          <p:nvPr/>
        </p:nvSpPr>
        <p:spPr>
          <a:xfrm>
            <a:off x="920801" y="3429000"/>
            <a:ext cx="12710160" cy="566928"/>
          </a:xfrm>
          <a:prstGeom prst="rect">
            <a:avLst/>
          </a:prstGeom>
          <a:noFill/>
          <a:ln/>
        </p:spPr>
        <p:txBody>
          <a:bodyPr wrap="square" lIns="0" tIns="0" rIns="0" bIns="0" rtlCol="0" anchor="ctr"/>
          <a:lstStyle/>
          <a:p>
            <a:pPr indent="0" marL="0">
              <a:buNone/>
            </a:pPr>
            <a:r>
              <a:rPr lang="en-US" sz="2500" dirty="0">
                <a:solidFill>
                  <a:srgbClr val="2B3242"/>
                </a:solidFill>
                <a:latin typeface="Pretendard" pitchFamily="34" charset="0"/>
                <a:ea typeface="Pretendard" pitchFamily="34" charset="-122"/>
                <a:cs typeface="Pretendard" pitchFamily="34" charset="-120"/>
              </a:rPr>
              <a:t>W-1 SQL 검색기</a:t>
            </a:r>
            <a:endParaRPr lang="en-US" sz="2500" dirty="0"/>
          </a:p>
        </p:txBody>
      </p:sp>
      <p:sp>
        <p:nvSpPr>
          <p:cNvPr id="7" name="Text 5"/>
          <p:cNvSpPr/>
          <p:nvPr/>
        </p:nvSpPr>
        <p:spPr>
          <a:xfrm>
            <a:off x="920801" y="4453128"/>
            <a:ext cx="12710160" cy="566928"/>
          </a:xfrm>
          <a:prstGeom prst="rect">
            <a:avLst/>
          </a:prstGeom>
          <a:noFill/>
          <a:ln/>
        </p:spPr>
        <p:txBody>
          <a:bodyPr wrap="square" lIns="0" tIns="0" rIns="0" bIns="0" rtlCol="0" anchor="ctr"/>
          <a:lstStyle/>
          <a:p>
            <a:pPr indent="0" marL="0">
              <a:buNone/>
            </a:pPr>
            <a:r>
              <a:rPr lang="en-US" sz="2000" dirty="0">
                <a:solidFill>
                  <a:srgbClr val="4A5364"/>
                </a:solidFill>
                <a:latin typeface="Pretendard" pitchFamily="34" charset="0"/>
                <a:ea typeface="Pretendard" pitchFamily="34" charset="-122"/>
                <a:cs typeface="Pretendard" pitchFamily="34" charset="-120"/>
              </a:rPr>
              <a:t>정형쿼리: 미리 작성하고 확인한 SQL 조회</a:t>
            </a:r>
            <a:endParaRPr lang="en-US" sz="2000" dirty="0"/>
          </a:p>
        </p:txBody>
      </p:sp>
      <p:sp>
        <p:nvSpPr>
          <p:cNvPr id="8" name="Text 6"/>
          <p:cNvSpPr/>
          <p:nvPr/>
        </p:nvSpPr>
        <p:spPr>
          <a:xfrm>
            <a:off x="920801" y="5477256"/>
            <a:ext cx="12710160" cy="566928"/>
          </a:xfrm>
          <a:prstGeom prst="rect">
            <a:avLst/>
          </a:prstGeom>
          <a:noFill/>
          <a:ln/>
        </p:spPr>
        <p:txBody>
          <a:bodyPr wrap="square" lIns="0" tIns="0" rIns="0" bIns="0" rtlCol="0" anchor="ctr"/>
          <a:lstStyle/>
          <a:p>
            <a:pPr indent="0" marL="0">
              <a:buNone/>
            </a:pPr>
            <a:r>
              <a:rPr lang="en-US" sz="2000" dirty="0">
                <a:solidFill>
                  <a:srgbClr val="4A5364"/>
                </a:solidFill>
                <a:latin typeface="Pretendard" pitchFamily="34" charset="0"/>
                <a:ea typeface="Pretendard" pitchFamily="34" charset="-122"/>
                <a:cs typeface="Pretendard" pitchFamily="34" charset="-120"/>
              </a:rPr>
              <a:t>NL2SQL: 자연어 질문을 SQL 조회문으로 바꾸는 방식</a:t>
            </a:r>
            <a:endParaRPr lang="en-US" sz="2000" dirty="0"/>
          </a:p>
        </p:txBody>
      </p:sp>
      <p:sp>
        <p:nvSpPr>
          <p:cNvPr id="9" name="Text 7"/>
          <p:cNvSpPr/>
          <p:nvPr/>
        </p:nvSpPr>
        <p:spPr>
          <a:xfrm>
            <a:off x="920801" y="6501384"/>
            <a:ext cx="12710160" cy="566928"/>
          </a:xfrm>
          <a:prstGeom prst="rect">
            <a:avLst/>
          </a:prstGeom>
          <a:noFill/>
          <a:ln/>
        </p:spPr>
        <p:txBody>
          <a:bodyPr wrap="square" lIns="0" tIns="0" rIns="0" bIns="0" rtlCol="0" anchor="ctr"/>
          <a:lstStyle/>
          <a:p>
            <a:pPr indent="0" marL="0">
              <a:buNone/>
            </a:pPr>
            <a:r>
              <a:rPr lang="en-US" sz="2000" dirty="0">
                <a:solidFill>
                  <a:srgbClr val="4A5364"/>
                </a:solidFill>
                <a:latin typeface="Pretendard" pitchFamily="34" charset="0"/>
                <a:ea typeface="Pretendard" pitchFamily="34" charset="-122"/>
                <a:cs typeface="Pretendard" pitchFamily="34" charset="-120"/>
              </a:rPr>
              <a:t>design-agentic-ai | 2026-10-15</a:t>
            </a:r>
            <a:endParaRPr lang="en-US" sz="2000" dirty="0"/>
          </a:p>
        </p:txBody>
      </p:sp>
      <p:sp>
        <p:nvSpPr>
          <p:cNvPr id="10" name="Shape 8"/>
          <p:cNvSpPr/>
          <p:nvPr/>
        </p:nvSpPr>
        <p:spPr>
          <a:xfrm>
            <a:off x="509321" y="7388352"/>
            <a:ext cx="13624560" cy="0"/>
          </a:xfrm>
          <a:prstGeom prst="line">
            <a:avLst/>
          </a:prstGeom>
          <a:noFill/>
          <a:ln w="12700">
            <a:solidFill>
              <a:srgbClr val="E9ECF3"/>
            </a:solidFill>
            <a:prstDash val="solid"/>
          </a:ln>
        </p:spPr>
      </p:sp>
      <p:sp>
        <p:nvSpPr>
          <p:cNvPr id="11" name="Text 9"/>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설계 개요</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동기 요청 1건을 6단계로 처리하고, 시스템 내부 DB에서 결과를 얻는 구조</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설계 대상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상담사 질문 → 정형쿼리 또는 NL2SQL → 검증된 조회 결과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유저스토리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별도 파일 없음. 기본 6단계 워크플로우 사용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시작 트리거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동기 요청: 호출자가 검색을 요청하고 응답을 기다림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설계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검증, 경로 선택, 계획 판정, SQL 검증, 실행, 응답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제외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데이터 변경, 문서 검색, 다중 뷰 결합, 대화 답변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DB 취급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PostgreSQL 18.6, 시스템 내부 구성요소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 예산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전체 30초, 종료 1초, LLM 최대 15초. 설계 가정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필드 표기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필드명(타입, 필수/선택, 설명). Context는 누적 내부 상태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목차</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흐름부터 실행 규칙과 검증 근거까지 구현 순서로 구성함</a:t>
            </a:r>
            <a:endParaRPr lang="en-US" sz="1800" dirty="0"/>
          </a:p>
        </p:txBody>
      </p:sp>
      <p:sp>
        <p:nvSpPr>
          <p:cNvPr id="4" name="Shape 2"/>
          <p:cNvSpPr/>
          <p:nvPr/>
        </p:nvSpPr>
        <p:spPr>
          <a:xfrm>
            <a:off x="509321" y="1737360"/>
            <a:ext cx="13624560" cy="457200"/>
          </a:xfrm>
          <a:prstGeom prst="roundRect">
            <a:avLst>
              <a:gd name="adj" fmla="val 12000"/>
            </a:avLst>
          </a:prstGeom>
          <a:solidFill>
            <a:srgbClr val="1E2A5C"/>
          </a:solidFill>
          <a:ln/>
        </p:spPr>
      </p:sp>
      <p:sp>
        <p:nvSpPr>
          <p:cNvPr id="5" name="Text 3"/>
          <p:cNvSpPr/>
          <p:nvPr/>
        </p:nvSpPr>
        <p:spPr>
          <a:xfrm>
            <a:off x="509321" y="1737360"/>
            <a:ext cx="136245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Pretendard" pitchFamily="34" charset="0"/>
                <a:ea typeface="Pretendard" pitchFamily="34" charset="-122"/>
                <a:cs typeface="Pretendard" pitchFamily="34" charset="-120"/>
              </a:rPr>
              <a:t>설계 기준</a:t>
            </a:r>
            <a:endParaRPr lang="en-US" sz="2400" dirty="0"/>
          </a:p>
        </p:txBody>
      </p:sp>
      <p:sp>
        <p:nvSpPr>
          <p:cNvPr id="6" name="Shape 4"/>
          <p:cNvSpPr/>
          <p:nvPr/>
        </p:nvSpPr>
        <p:spPr>
          <a:xfrm>
            <a:off x="509321" y="2478024"/>
            <a:ext cx="384048" cy="384048"/>
          </a:xfrm>
          <a:prstGeom prst="roundRect">
            <a:avLst>
              <a:gd name="adj" fmla="val 11905"/>
            </a:avLst>
          </a:prstGeom>
          <a:solidFill>
            <a:srgbClr val="2E74C6"/>
          </a:solidFill>
          <a:ln/>
        </p:spPr>
      </p:sp>
      <p:sp>
        <p:nvSpPr>
          <p:cNvPr id="7" name="Text 5"/>
          <p:cNvSpPr/>
          <p:nvPr/>
        </p:nvSpPr>
        <p:spPr>
          <a:xfrm>
            <a:off x="509321" y="247802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8" name="Text 6"/>
          <p:cNvSpPr/>
          <p:nvPr/>
        </p:nvSpPr>
        <p:spPr>
          <a:xfrm>
            <a:off x="1149401" y="2423160"/>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① 단계 도출과 흐름 | ② 단계별 명세</a:t>
            </a:r>
            <a:endParaRPr lang="en-US" sz="2200" dirty="0"/>
          </a:p>
        </p:txBody>
      </p:sp>
      <p:sp>
        <p:nvSpPr>
          <p:cNvPr id="9" name="Shape 7"/>
          <p:cNvSpPr/>
          <p:nvPr/>
        </p:nvSpPr>
        <p:spPr>
          <a:xfrm>
            <a:off x="1149401" y="3328416"/>
            <a:ext cx="12893040" cy="0"/>
          </a:xfrm>
          <a:prstGeom prst="line">
            <a:avLst/>
          </a:prstGeom>
          <a:noFill/>
          <a:ln w="12700">
            <a:solidFill>
              <a:srgbClr val="EDF0F6"/>
            </a:solidFill>
            <a:prstDash val="solid"/>
          </a:ln>
        </p:spPr>
      </p:sp>
      <p:sp>
        <p:nvSpPr>
          <p:cNvPr id="10" name="Shape 8"/>
          <p:cNvSpPr/>
          <p:nvPr/>
        </p:nvSpPr>
        <p:spPr>
          <a:xfrm>
            <a:off x="509321" y="3410712"/>
            <a:ext cx="384048" cy="384048"/>
          </a:xfrm>
          <a:prstGeom prst="roundRect">
            <a:avLst>
              <a:gd name="adj" fmla="val 11905"/>
            </a:avLst>
          </a:prstGeom>
          <a:solidFill>
            <a:srgbClr val="2E74C6"/>
          </a:solidFill>
          <a:ln/>
        </p:spPr>
      </p:sp>
      <p:sp>
        <p:nvSpPr>
          <p:cNvPr id="11" name="Text 9"/>
          <p:cNvSpPr/>
          <p:nvPr/>
        </p:nvSpPr>
        <p:spPr>
          <a:xfrm>
            <a:off x="509321" y="341071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2" name="Text 10"/>
          <p:cNvSpPr/>
          <p:nvPr/>
        </p:nvSpPr>
        <p:spPr>
          <a:xfrm>
            <a:off x="1149401" y="3355848"/>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③ 외부시스템 연동 | ④ 반복 구간</a:t>
            </a:r>
            <a:endParaRPr lang="en-US" sz="2200" dirty="0"/>
          </a:p>
        </p:txBody>
      </p:sp>
      <p:sp>
        <p:nvSpPr>
          <p:cNvPr id="13" name="Shape 11"/>
          <p:cNvSpPr/>
          <p:nvPr/>
        </p:nvSpPr>
        <p:spPr>
          <a:xfrm>
            <a:off x="1149401" y="4261104"/>
            <a:ext cx="12893040" cy="0"/>
          </a:xfrm>
          <a:prstGeom prst="line">
            <a:avLst/>
          </a:prstGeom>
          <a:noFill/>
          <a:ln w="12700">
            <a:solidFill>
              <a:srgbClr val="EDF0F6"/>
            </a:solidFill>
            <a:prstDash val="solid"/>
          </a:ln>
        </p:spPr>
      </p:sp>
      <p:sp>
        <p:nvSpPr>
          <p:cNvPr id="14" name="Shape 12"/>
          <p:cNvSpPr/>
          <p:nvPr/>
        </p:nvSpPr>
        <p:spPr>
          <a:xfrm>
            <a:off x="509321" y="4343400"/>
            <a:ext cx="384048" cy="384048"/>
          </a:xfrm>
          <a:prstGeom prst="roundRect">
            <a:avLst>
              <a:gd name="adj" fmla="val 11905"/>
            </a:avLst>
          </a:prstGeom>
          <a:solidFill>
            <a:srgbClr val="2E74C6"/>
          </a:solidFill>
          <a:ln/>
        </p:spPr>
      </p:sp>
      <p:sp>
        <p:nvSpPr>
          <p:cNvPr id="15" name="Text 13"/>
          <p:cNvSpPr/>
          <p:nvPr/>
        </p:nvSpPr>
        <p:spPr>
          <a:xfrm>
            <a:off x="509321" y="434340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6" name="Text 14"/>
          <p:cNvSpPr/>
          <p:nvPr/>
        </p:nvSpPr>
        <p:spPr>
          <a:xfrm>
            <a:off x="1149401" y="4288536"/>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⑤ 워크플로우와 시간 예산 | 커넥터 설계</a:t>
            </a:r>
            <a:endParaRPr lang="en-US" sz="2200" dirty="0"/>
          </a:p>
        </p:txBody>
      </p:sp>
      <p:sp>
        <p:nvSpPr>
          <p:cNvPr id="17" name="Shape 15"/>
          <p:cNvSpPr/>
          <p:nvPr/>
        </p:nvSpPr>
        <p:spPr>
          <a:xfrm>
            <a:off x="1149401" y="5193792"/>
            <a:ext cx="12893040" cy="0"/>
          </a:xfrm>
          <a:prstGeom prst="line">
            <a:avLst/>
          </a:prstGeom>
          <a:noFill/>
          <a:ln w="12700">
            <a:solidFill>
              <a:srgbClr val="EDF0F6"/>
            </a:solidFill>
            <a:prstDash val="solid"/>
          </a:ln>
        </p:spPr>
      </p:sp>
      <p:sp>
        <p:nvSpPr>
          <p:cNvPr id="18" name="Shape 16"/>
          <p:cNvSpPr/>
          <p:nvPr/>
        </p:nvSpPr>
        <p:spPr>
          <a:xfrm>
            <a:off x="509321" y="5276088"/>
            <a:ext cx="384048" cy="384048"/>
          </a:xfrm>
          <a:prstGeom prst="roundRect">
            <a:avLst>
              <a:gd name="adj" fmla="val 11905"/>
            </a:avLst>
          </a:prstGeom>
          <a:solidFill>
            <a:srgbClr val="2E74C6"/>
          </a:solidFill>
          <a:ln/>
        </p:spPr>
      </p:sp>
      <p:sp>
        <p:nvSpPr>
          <p:cNvPr id="19" name="Text 17"/>
          <p:cNvSpPr/>
          <p:nvPr/>
        </p:nvSpPr>
        <p:spPr>
          <a:xfrm>
            <a:off x="509321" y="527608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0" name="Text 18"/>
          <p:cNvSpPr/>
          <p:nvPr/>
        </p:nvSpPr>
        <p:spPr>
          <a:xfrm>
            <a:off x="1149401" y="5221224"/>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⑥ 남은 시간 예산 정책</a:t>
            </a:r>
            <a:endParaRPr lang="en-US" sz="2200" dirty="0"/>
          </a:p>
        </p:txBody>
      </p:sp>
      <p:sp>
        <p:nvSpPr>
          <p:cNvPr id="21" name="Shape 19"/>
          <p:cNvSpPr/>
          <p:nvPr/>
        </p:nvSpPr>
        <p:spPr>
          <a:xfrm>
            <a:off x="1149401" y="6126480"/>
            <a:ext cx="12893040" cy="0"/>
          </a:xfrm>
          <a:prstGeom prst="line">
            <a:avLst/>
          </a:prstGeom>
          <a:noFill/>
          <a:ln w="12700">
            <a:solidFill>
              <a:srgbClr val="EDF0F6"/>
            </a:solidFill>
            <a:prstDash val="solid"/>
          </a:ln>
        </p:spPr>
      </p:sp>
      <p:sp>
        <p:nvSpPr>
          <p:cNvPr id="22" name="Shape 20"/>
          <p:cNvSpPr/>
          <p:nvPr/>
        </p:nvSpPr>
        <p:spPr>
          <a:xfrm>
            <a:off x="509321" y="6208776"/>
            <a:ext cx="384048" cy="384048"/>
          </a:xfrm>
          <a:prstGeom prst="roundRect">
            <a:avLst>
              <a:gd name="adj" fmla="val 11905"/>
            </a:avLst>
          </a:prstGeom>
          <a:solidFill>
            <a:srgbClr val="2E74C6"/>
          </a:solidFill>
          <a:ln/>
        </p:spPr>
      </p:sp>
      <p:sp>
        <p:nvSpPr>
          <p:cNvPr id="23" name="Text 21"/>
          <p:cNvSpPr/>
          <p:nvPr/>
        </p:nvSpPr>
        <p:spPr>
          <a:xfrm>
            <a:off x="509321" y="620877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24" name="Text 22"/>
          <p:cNvSpPr/>
          <p:nvPr/>
        </p:nvSpPr>
        <p:spPr>
          <a:xfrm>
            <a:off x="1149401" y="6153912"/>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부록: 뷰, 정형 SQL, SQL 규칙, 필드 사전, 오류, 점검표</a:t>
            </a:r>
            <a:endParaRPr lang="en-US" sz="2200" dirty="0"/>
          </a:p>
        </p:txBody>
      </p:sp>
      <p:sp>
        <p:nvSpPr>
          <p:cNvPr id="25" name="Shape 23"/>
          <p:cNvSpPr/>
          <p:nvPr/>
        </p:nvSpPr>
        <p:spPr>
          <a:xfrm>
            <a:off x="509321" y="7388352"/>
            <a:ext cx="13624560" cy="0"/>
          </a:xfrm>
          <a:prstGeom prst="line">
            <a:avLst/>
          </a:prstGeom>
          <a:noFill/>
          <a:ln w="12700">
            <a:solidFill>
              <a:srgbClr val="E9ECF3"/>
            </a:solidFill>
            <a:prstDash val="solid"/>
          </a:ln>
        </p:spPr>
      </p:sp>
      <p:sp>
        <p:nvSpPr>
          <p:cNvPr id="26" name="Text 24"/>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① 단계 도출과 순서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순차 처리 중 S-R2에서 고정 조회와 LLM 경로 중 하나를 선택함</a:t>
            </a:r>
            <a:endParaRPr lang="en-US" sz="1800" dirty="0"/>
          </a:p>
        </p:txBody>
      </p:sp>
      <p:sp>
        <p:nvSpPr>
          <p:cNvPr id="4" name="Shape 2"/>
          <p:cNvSpPr/>
          <p:nvPr/>
        </p:nvSpPr>
        <p:spPr>
          <a:xfrm>
            <a:off x="509321" y="3337560"/>
            <a:ext cx="1554480" cy="1024128"/>
          </a:xfrm>
          <a:prstGeom prst="roundRect">
            <a:avLst>
              <a:gd name="adj" fmla="val 5357"/>
            </a:avLst>
          </a:prstGeom>
          <a:solidFill>
            <a:srgbClr val="1E2A5C"/>
          </a:solidFill>
          <a:ln w="12700">
            <a:solidFill>
              <a:srgbClr val="1E2A5C"/>
            </a:solidFill>
            <a:prstDash val="solid"/>
          </a:ln>
        </p:spPr>
      </p:sp>
      <p:sp>
        <p:nvSpPr>
          <p:cNvPr id="5" name="Text 3"/>
          <p:cNvSpPr/>
          <p:nvPr/>
        </p:nvSpPr>
        <p:spPr>
          <a:xfrm>
            <a:off x="573329"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S-R1</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요청 접수와 검증</a:t>
            </a:r>
            <a:endParaRPr lang="en-US" sz="1600" dirty="0"/>
          </a:p>
        </p:txBody>
      </p:sp>
      <p:sp>
        <p:nvSpPr>
          <p:cNvPr id="6" name="Shape 4"/>
          <p:cNvSpPr/>
          <p:nvPr/>
        </p:nvSpPr>
        <p:spPr>
          <a:xfrm>
            <a:off x="2432304" y="3337560"/>
            <a:ext cx="1554480" cy="1024128"/>
          </a:xfrm>
          <a:prstGeom prst="diamond">
            <a:avLst/>
          </a:prstGeom>
          <a:solidFill>
            <a:srgbClr val="1E2A5C"/>
          </a:solidFill>
          <a:ln w="12700">
            <a:solidFill>
              <a:srgbClr val="1E2A5C"/>
            </a:solidFill>
            <a:prstDash val="solid"/>
          </a:ln>
        </p:spPr>
      </p:sp>
      <p:sp>
        <p:nvSpPr>
          <p:cNvPr id="7" name="Text 5"/>
          <p:cNvSpPr/>
          <p:nvPr/>
        </p:nvSpPr>
        <p:spPr>
          <a:xfrm>
            <a:off x="2496312"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S-R2</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조회 경로 선택</a:t>
            </a:r>
            <a:endParaRPr lang="en-US" sz="1600" dirty="0"/>
          </a:p>
        </p:txBody>
      </p:sp>
      <p:sp>
        <p:nvSpPr>
          <p:cNvPr id="8" name="Shape 6"/>
          <p:cNvSpPr/>
          <p:nvPr/>
        </p:nvSpPr>
        <p:spPr>
          <a:xfrm>
            <a:off x="4352544" y="2377440"/>
            <a:ext cx="1737360" cy="914400"/>
          </a:xfrm>
          <a:prstGeom prst="roundRect">
            <a:avLst>
              <a:gd name="adj" fmla="val 6000"/>
            </a:avLst>
          </a:prstGeom>
          <a:solidFill>
            <a:srgbClr val="1E2A5C"/>
          </a:solidFill>
          <a:ln w="12700">
            <a:solidFill>
              <a:srgbClr val="1E2A5C"/>
            </a:solidFill>
            <a:prstDash val="solid"/>
          </a:ln>
        </p:spPr>
      </p:sp>
      <p:sp>
        <p:nvSpPr>
          <p:cNvPr id="9" name="Text 7"/>
          <p:cNvSpPr/>
          <p:nvPr/>
        </p:nvSpPr>
        <p:spPr>
          <a:xfrm>
            <a:off x="4416552" y="2468880"/>
            <a:ext cx="1609344"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고정 Q-ID와</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SQL 선택</a:t>
            </a:r>
            <a:endParaRPr lang="en-US" sz="1600" dirty="0"/>
          </a:p>
        </p:txBody>
      </p:sp>
      <p:sp>
        <p:nvSpPr>
          <p:cNvPr id="10" name="Shape 8"/>
          <p:cNvSpPr/>
          <p:nvPr/>
        </p:nvSpPr>
        <p:spPr>
          <a:xfrm>
            <a:off x="4352544" y="4407408"/>
            <a:ext cx="1737360" cy="914400"/>
          </a:xfrm>
          <a:prstGeom prst="roundRect">
            <a:avLst>
              <a:gd name="adj" fmla="val 6000"/>
            </a:avLst>
          </a:prstGeom>
          <a:solidFill>
            <a:srgbClr val="2E74C6"/>
          </a:solidFill>
          <a:ln w="12700">
            <a:solidFill>
              <a:srgbClr val="2E74C6"/>
            </a:solidFill>
            <a:prstDash val="solid"/>
          </a:ln>
        </p:spPr>
      </p:sp>
      <p:sp>
        <p:nvSpPr>
          <p:cNvPr id="11" name="Text 9"/>
          <p:cNvSpPr/>
          <p:nvPr/>
        </p:nvSpPr>
        <p:spPr>
          <a:xfrm>
            <a:off x="4416552" y="4498848"/>
            <a:ext cx="1609344"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Groq SQL 생성</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최대 1회</a:t>
            </a:r>
            <a:endParaRPr lang="en-US" sz="1600" dirty="0"/>
          </a:p>
        </p:txBody>
      </p:sp>
      <p:sp>
        <p:nvSpPr>
          <p:cNvPr id="12" name="Shape 10"/>
          <p:cNvSpPr/>
          <p:nvPr/>
        </p:nvSpPr>
        <p:spPr>
          <a:xfrm>
            <a:off x="6428232" y="3337560"/>
            <a:ext cx="1554480" cy="1024128"/>
          </a:xfrm>
          <a:prstGeom prst="roundRect">
            <a:avLst>
              <a:gd name="adj" fmla="val 5357"/>
            </a:avLst>
          </a:prstGeom>
          <a:solidFill>
            <a:srgbClr val="1E2A5C"/>
          </a:solidFill>
          <a:ln w="12700">
            <a:solidFill>
              <a:srgbClr val="1E2A5C"/>
            </a:solidFill>
            <a:prstDash val="solid"/>
          </a:ln>
        </p:spPr>
      </p:sp>
      <p:sp>
        <p:nvSpPr>
          <p:cNvPr id="13" name="Text 11"/>
          <p:cNvSpPr/>
          <p:nvPr/>
        </p:nvSpPr>
        <p:spPr>
          <a:xfrm>
            <a:off x="649224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S-R3</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계획 적합성</a:t>
            </a:r>
            <a:endParaRPr lang="en-US" sz="1600" dirty="0"/>
          </a:p>
        </p:txBody>
      </p:sp>
      <p:sp>
        <p:nvSpPr>
          <p:cNvPr id="14" name="Shape 12"/>
          <p:cNvSpPr/>
          <p:nvPr/>
        </p:nvSpPr>
        <p:spPr>
          <a:xfrm>
            <a:off x="8348472" y="3337560"/>
            <a:ext cx="1554480" cy="1024128"/>
          </a:xfrm>
          <a:prstGeom prst="roundRect">
            <a:avLst>
              <a:gd name="adj" fmla="val 5357"/>
            </a:avLst>
          </a:prstGeom>
          <a:solidFill>
            <a:srgbClr val="1E2A5C"/>
          </a:solidFill>
          <a:ln w="12700">
            <a:solidFill>
              <a:srgbClr val="1E2A5C"/>
            </a:solidFill>
            <a:prstDash val="solid"/>
          </a:ln>
        </p:spPr>
      </p:sp>
      <p:sp>
        <p:nvSpPr>
          <p:cNvPr id="15" name="Text 13"/>
          <p:cNvSpPr/>
          <p:nvPr/>
        </p:nvSpPr>
        <p:spPr>
          <a:xfrm>
            <a:off x="841248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S-R4</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SQL 검증</a:t>
            </a:r>
            <a:endParaRPr lang="en-US" sz="1600" dirty="0"/>
          </a:p>
        </p:txBody>
      </p:sp>
      <p:sp>
        <p:nvSpPr>
          <p:cNvPr id="16" name="Shape 14"/>
          <p:cNvSpPr/>
          <p:nvPr/>
        </p:nvSpPr>
        <p:spPr>
          <a:xfrm>
            <a:off x="10268712" y="3337560"/>
            <a:ext cx="1554480" cy="1024128"/>
          </a:xfrm>
          <a:prstGeom prst="can">
            <a:avLst/>
          </a:prstGeom>
          <a:solidFill>
            <a:srgbClr val="4A5364"/>
          </a:solidFill>
          <a:ln w="12700">
            <a:solidFill>
              <a:srgbClr val="4A5364"/>
            </a:solidFill>
            <a:prstDash val="solid"/>
          </a:ln>
        </p:spPr>
      </p:sp>
      <p:sp>
        <p:nvSpPr>
          <p:cNvPr id="17" name="Text 15"/>
          <p:cNvSpPr/>
          <p:nvPr/>
        </p:nvSpPr>
        <p:spPr>
          <a:xfrm>
            <a:off x="1033272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S-R5</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내부 DB 조회</a:t>
            </a:r>
            <a:endParaRPr lang="en-US" sz="1600" dirty="0"/>
          </a:p>
        </p:txBody>
      </p:sp>
      <p:sp>
        <p:nvSpPr>
          <p:cNvPr id="18" name="Shape 16"/>
          <p:cNvSpPr/>
          <p:nvPr/>
        </p:nvSpPr>
        <p:spPr>
          <a:xfrm>
            <a:off x="12188952" y="3337560"/>
            <a:ext cx="1554480" cy="1024128"/>
          </a:xfrm>
          <a:prstGeom prst="roundRect">
            <a:avLst>
              <a:gd name="adj" fmla="val 5357"/>
            </a:avLst>
          </a:prstGeom>
          <a:solidFill>
            <a:srgbClr val="1E2A5C"/>
          </a:solidFill>
          <a:ln w="12700">
            <a:solidFill>
              <a:srgbClr val="1E2A5C"/>
            </a:solidFill>
            <a:prstDash val="solid"/>
          </a:ln>
        </p:spPr>
      </p:sp>
      <p:sp>
        <p:nvSpPr>
          <p:cNvPr id="19" name="Text 17"/>
          <p:cNvSpPr/>
          <p:nvPr/>
        </p:nvSpPr>
        <p:spPr>
          <a:xfrm>
            <a:off x="1225296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S-R6</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응답 구성과 반환</a:t>
            </a:r>
            <a:endParaRPr lang="en-US" sz="1600" dirty="0"/>
          </a:p>
        </p:txBody>
      </p:sp>
      <p:sp>
        <p:nvSpPr>
          <p:cNvPr id="20" name="Shape 18"/>
          <p:cNvSpPr/>
          <p:nvPr/>
        </p:nvSpPr>
        <p:spPr>
          <a:xfrm>
            <a:off x="2063801" y="3849624"/>
            <a:ext cx="368503" cy="0"/>
          </a:xfrm>
          <a:prstGeom prst="line">
            <a:avLst/>
          </a:prstGeom>
          <a:noFill/>
          <a:ln w="22860">
            <a:solidFill>
              <a:srgbClr val="2E74C6"/>
            </a:solidFill>
            <a:prstDash val="solid"/>
            <a:tailEnd type="triangle"/>
          </a:ln>
        </p:spPr>
      </p:sp>
      <p:sp>
        <p:nvSpPr>
          <p:cNvPr id="21" name="Shape 19"/>
          <p:cNvSpPr/>
          <p:nvPr/>
        </p:nvSpPr>
        <p:spPr>
          <a:xfrm flipV="1">
            <a:off x="3209544" y="2834640"/>
            <a:ext cx="0" cy="502920"/>
          </a:xfrm>
          <a:prstGeom prst="line">
            <a:avLst/>
          </a:prstGeom>
          <a:noFill/>
          <a:ln w="22860">
            <a:solidFill>
              <a:srgbClr val="2E74C6"/>
            </a:solidFill>
            <a:prstDash val="solid"/>
          </a:ln>
        </p:spPr>
      </p:sp>
      <p:sp>
        <p:nvSpPr>
          <p:cNvPr id="22" name="Shape 20"/>
          <p:cNvSpPr/>
          <p:nvPr/>
        </p:nvSpPr>
        <p:spPr>
          <a:xfrm>
            <a:off x="3209544" y="2834640"/>
            <a:ext cx="1143000" cy="0"/>
          </a:xfrm>
          <a:prstGeom prst="line">
            <a:avLst/>
          </a:prstGeom>
          <a:noFill/>
          <a:ln w="22860">
            <a:solidFill>
              <a:srgbClr val="2E74C6"/>
            </a:solidFill>
            <a:prstDash val="solid"/>
            <a:tailEnd type="triangle"/>
          </a:ln>
        </p:spPr>
      </p:sp>
      <p:sp>
        <p:nvSpPr>
          <p:cNvPr id="23" name="Shape 21"/>
          <p:cNvSpPr/>
          <p:nvPr/>
        </p:nvSpPr>
        <p:spPr>
          <a:xfrm>
            <a:off x="3209544" y="4361688"/>
            <a:ext cx="0" cy="502920"/>
          </a:xfrm>
          <a:prstGeom prst="line">
            <a:avLst/>
          </a:prstGeom>
          <a:noFill/>
          <a:ln w="22860">
            <a:solidFill>
              <a:srgbClr val="2E74C6"/>
            </a:solidFill>
            <a:prstDash val="solid"/>
          </a:ln>
        </p:spPr>
      </p:sp>
      <p:sp>
        <p:nvSpPr>
          <p:cNvPr id="24" name="Shape 22"/>
          <p:cNvSpPr/>
          <p:nvPr/>
        </p:nvSpPr>
        <p:spPr>
          <a:xfrm>
            <a:off x="3209544" y="4864608"/>
            <a:ext cx="1143000" cy="0"/>
          </a:xfrm>
          <a:prstGeom prst="line">
            <a:avLst/>
          </a:prstGeom>
          <a:noFill/>
          <a:ln w="22860">
            <a:solidFill>
              <a:srgbClr val="2E74C6"/>
            </a:solidFill>
            <a:prstDash val="solid"/>
            <a:tailEnd type="triangle"/>
          </a:ln>
        </p:spPr>
      </p:sp>
      <p:sp>
        <p:nvSpPr>
          <p:cNvPr id="25" name="Text 23"/>
          <p:cNvSpPr/>
          <p:nvPr/>
        </p:nvSpPr>
        <p:spPr>
          <a:xfrm>
            <a:off x="3374136" y="2414016"/>
            <a:ext cx="685800" cy="274320"/>
          </a:xfrm>
          <a:prstGeom prst="rect">
            <a:avLst/>
          </a:prstGeom>
          <a:noFill/>
          <a:ln/>
        </p:spPr>
        <p:txBody>
          <a:bodyPr wrap="square" lIns="0" tIns="0" rIns="0" bIns="0" rtlCol="0" anchor="ctr"/>
          <a:lstStyle/>
          <a:p>
            <a:pPr algn="ctr" indent="0" marL="0">
              <a:buNone/>
            </a:pPr>
            <a:r>
              <a:rPr lang="en-US" sz="1400" dirty="0">
                <a:solidFill>
                  <a:srgbClr val="1E2A5C"/>
                </a:solidFill>
                <a:latin typeface="Pretendard" pitchFamily="34" charset="0"/>
                <a:ea typeface="Pretendard" pitchFamily="34" charset="-122"/>
                <a:cs typeface="Pretendard" pitchFamily="34" charset="-120"/>
              </a:rPr>
              <a:t>일치</a:t>
            </a:r>
            <a:endParaRPr lang="en-US" sz="1400" dirty="0"/>
          </a:p>
        </p:txBody>
      </p:sp>
      <p:sp>
        <p:nvSpPr>
          <p:cNvPr id="26" name="Text 24"/>
          <p:cNvSpPr/>
          <p:nvPr/>
        </p:nvSpPr>
        <p:spPr>
          <a:xfrm>
            <a:off x="3374136" y="4956048"/>
            <a:ext cx="804672" cy="274320"/>
          </a:xfrm>
          <a:prstGeom prst="rect">
            <a:avLst/>
          </a:prstGeom>
          <a:noFill/>
          <a:ln/>
        </p:spPr>
        <p:txBody>
          <a:bodyPr wrap="square" lIns="0" tIns="0" rIns="0" bIns="0" rtlCol="0" anchor="ctr"/>
          <a:lstStyle/>
          <a:p>
            <a:pPr algn="ctr" indent="0" marL="0">
              <a:buNone/>
            </a:pPr>
            <a:r>
              <a:rPr lang="en-US" sz="1400" dirty="0">
                <a:solidFill>
                  <a:srgbClr val="1E2A5C"/>
                </a:solidFill>
                <a:latin typeface="Pretendard" pitchFamily="34" charset="0"/>
                <a:ea typeface="Pretendard" pitchFamily="34" charset="-122"/>
                <a:cs typeface="Pretendard" pitchFamily="34" charset="-120"/>
              </a:rPr>
              <a:t>미일치</a:t>
            </a:r>
            <a:endParaRPr lang="en-US" sz="1400" dirty="0"/>
          </a:p>
        </p:txBody>
      </p:sp>
      <p:sp>
        <p:nvSpPr>
          <p:cNvPr id="27" name="Shape 25"/>
          <p:cNvSpPr/>
          <p:nvPr/>
        </p:nvSpPr>
        <p:spPr>
          <a:xfrm>
            <a:off x="6089904" y="2834640"/>
            <a:ext cx="182880" cy="0"/>
          </a:xfrm>
          <a:prstGeom prst="line">
            <a:avLst/>
          </a:prstGeom>
          <a:noFill/>
          <a:ln w="22860">
            <a:solidFill>
              <a:srgbClr val="2E74C6"/>
            </a:solidFill>
            <a:prstDash val="solid"/>
          </a:ln>
        </p:spPr>
      </p:sp>
      <p:sp>
        <p:nvSpPr>
          <p:cNvPr id="28" name="Shape 26"/>
          <p:cNvSpPr/>
          <p:nvPr/>
        </p:nvSpPr>
        <p:spPr>
          <a:xfrm>
            <a:off x="6272784" y="2834640"/>
            <a:ext cx="0" cy="1014984"/>
          </a:xfrm>
          <a:prstGeom prst="line">
            <a:avLst/>
          </a:prstGeom>
          <a:noFill/>
          <a:ln w="22860">
            <a:solidFill>
              <a:srgbClr val="2E74C6"/>
            </a:solidFill>
            <a:prstDash val="solid"/>
          </a:ln>
        </p:spPr>
      </p:sp>
      <p:sp>
        <p:nvSpPr>
          <p:cNvPr id="29" name="Shape 27"/>
          <p:cNvSpPr/>
          <p:nvPr/>
        </p:nvSpPr>
        <p:spPr>
          <a:xfrm>
            <a:off x="6089904" y="4864608"/>
            <a:ext cx="182880" cy="0"/>
          </a:xfrm>
          <a:prstGeom prst="line">
            <a:avLst/>
          </a:prstGeom>
          <a:noFill/>
          <a:ln w="22860">
            <a:solidFill>
              <a:srgbClr val="2E74C6"/>
            </a:solidFill>
            <a:prstDash val="solid"/>
          </a:ln>
        </p:spPr>
      </p:sp>
      <p:sp>
        <p:nvSpPr>
          <p:cNvPr id="30" name="Shape 28"/>
          <p:cNvSpPr/>
          <p:nvPr/>
        </p:nvSpPr>
        <p:spPr>
          <a:xfrm flipV="1">
            <a:off x="6272784" y="3849624"/>
            <a:ext cx="0" cy="1014984"/>
          </a:xfrm>
          <a:prstGeom prst="line">
            <a:avLst/>
          </a:prstGeom>
          <a:noFill/>
          <a:ln w="22860">
            <a:solidFill>
              <a:srgbClr val="2E74C6"/>
            </a:solidFill>
            <a:prstDash val="solid"/>
          </a:ln>
        </p:spPr>
      </p:sp>
      <p:sp>
        <p:nvSpPr>
          <p:cNvPr id="31" name="Shape 29"/>
          <p:cNvSpPr/>
          <p:nvPr/>
        </p:nvSpPr>
        <p:spPr>
          <a:xfrm>
            <a:off x="6272784" y="3849624"/>
            <a:ext cx="155448" cy="0"/>
          </a:xfrm>
          <a:prstGeom prst="line">
            <a:avLst/>
          </a:prstGeom>
          <a:noFill/>
          <a:ln w="22860">
            <a:solidFill>
              <a:srgbClr val="2E74C6"/>
            </a:solidFill>
            <a:prstDash val="solid"/>
            <a:tailEnd type="triangle"/>
          </a:ln>
        </p:spPr>
      </p:sp>
      <p:sp>
        <p:nvSpPr>
          <p:cNvPr id="32" name="Shape 30"/>
          <p:cNvSpPr/>
          <p:nvPr/>
        </p:nvSpPr>
        <p:spPr>
          <a:xfrm>
            <a:off x="7982712" y="3849624"/>
            <a:ext cx="365760" cy="0"/>
          </a:xfrm>
          <a:prstGeom prst="line">
            <a:avLst/>
          </a:prstGeom>
          <a:noFill/>
          <a:ln w="22860">
            <a:solidFill>
              <a:srgbClr val="2E74C6"/>
            </a:solidFill>
            <a:prstDash val="solid"/>
            <a:tailEnd type="triangle"/>
          </a:ln>
        </p:spPr>
      </p:sp>
      <p:sp>
        <p:nvSpPr>
          <p:cNvPr id="33" name="Shape 31"/>
          <p:cNvSpPr/>
          <p:nvPr/>
        </p:nvSpPr>
        <p:spPr>
          <a:xfrm>
            <a:off x="9902952" y="3849624"/>
            <a:ext cx="365760" cy="0"/>
          </a:xfrm>
          <a:prstGeom prst="line">
            <a:avLst/>
          </a:prstGeom>
          <a:noFill/>
          <a:ln w="22860">
            <a:solidFill>
              <a:srgbClr val="2E74C6"/>
            </a:solidFill>
            <a:prstDash val="solid"/>
            <a:tailEnd type="triangle"/>
          </a:ln>
        </p:spPr>
      </p:sp>
      <p:sp>
        <p:nvSpPr>
          <p:cNvPr id="34" name="Shape 32"/>
          <p:cNvSpPr/>
          <p:nvPr/>
        </p:nvSpPr>
        <p:spPr>
          <a:xfrm>
            <a:off x="11823192" y="3849624"/>
            <a:ext cx="365760" cy="0"/>
          </a:xfrm>
          <a:prstGeom prst="line">
            <a:avLst/>
          </a:prstGeom>
          <a:noFill/>
          <a:ln w="22860">
            <a:solidFill>
              <a:srgbClr val="2E74C6"/>
            </a:solidFill>
            <a:prstDash val="solid"/>
            <a:tailEnd type="triangle"/>
          </a:ln>
        </p:spPr>
      </p:sp>
      <p:sp>
        <p:nvSpPr>
          <p:cNvPr id="35" name="Text 33"/>
          <p:cNvSpPr/>
          <p:nvPr/>
        </p:nvSpPr>
        <p:spPr>
          <a:xfrm>
            <a:off x="509321" y="2267712"/>
            <a:ext cx="1554480" cy="347472"/>
          </a:xfrm>
          <a:prstGeom prst="rect">
            <a:avLst/>
          </a:prstGeom>
          <a:noFill/>
          <a:ln/>
        </p:spPr>
        <p:txBody>
          <a:bodyPr wrap="square" lIns="0" tIns="0" rIns="0" bIns="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동기 요청</a:t>
            </a:r>
            <a:endParaRPr lang="en-US" sz="1800" dirty="0"/>
          </a:p>
        </p:txBody>
      </p:sp>
      <p:sp>
        <p:nvSpPr>
          <p:cNvPr id="36" name="Shape 34"/>
          <p:cNvSpPr/>
          <p:nvPr/>
        </p:nvSpPr>
        <p:spPr>
          <a:xfrm>
            <a:off x="1286561" y="2706624"/>
            <a:ext cx="0" cy="630936"/>
          </a:xfrm>
          <a:prstGeom prst="line">
            <a:avLst/>
          </a:prstGeom>
          <a:noFill/>
          <a:ln w="22860">
            <a:solidFill>
              <a:srgbClr val="2E74C6"/>
            </a:solidFill>
            <a:prstDash val="solid"/>
            <a:tailEnd type="triangle"/>
          </a:ln>
        </p:spPr>
      </p:sp>
      <p:sp>
        <p:nvSpPr>
          <p:cNvPr id="37" name="Text 35"/>
          <p:cNvSpPr/>
          <p:nvPr/>
        </p:nvSpPr>
        <p:spPr>
          <a:xfrm>
            <a:off x="12188952" y="2267712"/>
            <a:ext cx="1554480" cy="347472"/>
          </a:xfrm>
          <a:prstGeom prst="rect">
            <a:avLst/>
          </a:prstGeom>
          <a:noFill/>
          <a:ln/>
        </p:spPr>
        <p:txBody>
          <a:bodyPr wrap="square" lIns="0" tIns="0" rIns="0" bIns="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종료</a:t>
            </a:r>
            <a:endParaRPr lang="en-US" sz="1800" dirty="0"/>
          </a:p>
        </p:txBody>
      </p:sp>
      <p:sp>
        <p:nvSpPr>
          <p:cNvPr id="38" name="Shape 36"/>
          <p:cNvSpPr/>
          <p:nvPr/>
        </p:nvSpPr>
        <p:spPr>
          <a:xfrm flipV="1">
            <a:off x="12966192" y="2706624"/>
            <a:ext cx="0" cy="630936"/>
          </a:xfrm>
          <a:prstGeom prst="line">
            <a:avLst/>
          </a:prstGeom>
          <a:noFill/>
          <a:ln w="22860">
            <a:solidFill>
              <a:srgbClr val="2E74C6"/>
            </a:solidFill>
            <a:prstDash val="solid"/>
            <a:tailEnd type="triangle"/>
          </a:ln>
        </p:spPr>
      </p:sp>
      <p:sp>
        <p:nvSpPr>
          <p:cNvPr id="39" name="Shape 37"/>
          <p:cNvSpPr/>
          <p:nvPr/>
        </p:nvSpPr>
        <p:spPr>
          <a:xfrm>
            <a:off x="1286561" y="4361688"/>
            <a:ext cx="0" cy="1563624"/>
          </a:xfrm>
          <a:prstGeom prst="line">
            <a:avLst/>
          </a:prstGeom>
          <a:noFill/>
          <a:ln w="22860">
            <a:solidFill>
              <a:srgbClr val="404155"/>
            </a:solidFill>
            <a:prstDash val="dash"/>
          </a:ln>
        </p:spPr>
      </p:sp>
      <p:sp>
        <p:nvSpPr>
          <p:cNvPr id="40" name="Shape 38"/>
          <p:cNvSpPr/>
          <p:nvPr/>
        </p:nvSpPr>
        <p:spPr>
          <a:xfrm>
            <a:off x="2820924" y="4105656"/>
            <a:ext cx="0" cy="1819656"/>
          </a:xfrm>
          <a:prstGeom prst="line">
            <a:avLst/>
          </a:prstGeom>
          <a:noFill/>
          <a:ln w="22860">
            <a:solidFill>
              <a:srgbClr val="404155"/>
            </a:solidFill>
            <a:prstDash val="dash"/>
          </a:ln>
        </p:spPr>
      </p:sp>
      <p:sp>
        <p:nvSpPr>
          <p:cNvPr id="41" name="Shape 39"/>
          <p:cNvSpPr/>
          <p:nvPr/>
        </p:nvSpPr>
        <p:spPr>
          <a:xfrm>
            <a:off x="7205472" y="4361688"/>
            <a:ext cx="0" cy="1563624"/>
          </a:xfrm>
          <a:prstGeom prst="line">
            <a:avLst/>
          </a:prstGeom>
          <a:noFill/>
          <a:ln w="22860">
            <a:solidFill>
              <a:srgbClr val="404155"/>
            </a:solidFill>
            <a:prstDash val="dash"/>
          </a:ln>
        </p:spPr>
      </p:sp>
      <p:sp>
        <p:nvSpPr>
          <p:cNvPr id="42" name="Shape 40"/>
          <p:cNvSpPr/>
          <p:nvPr/>
        </p:nvSpPr>
        <p:spPr>
          <a:xfrm>
            <a:off x="9125712" y="4361688"/>
            <a:ext cx="0" cy="1563624"/>
          </a:xfrm>
          <a:prstGeom prst="line">
            <a:avLst/>
          </a:prstGeom>
          <a:noFill/>
          <a:ln w="22860">
            <a:solidFill>
              <a:srgbClr val="404155"/>
            </a:solidFill>
            <a:prstDash val="dash"/>
          </a:ln>
        </p:spPr>
      </p:sp>
      <p:sp>
        <p:nvSpPr>
          <p:cNvPr id="43" name="Shape 41"/>
          <p:cNvSpPr/>
          <p:nvPr/>
        </p:nvSpPr>
        <p:spPr>
          <a:xfrm>
            <a:off x="11045952" y="4361688"/>
            <a:ext cx="0" cy="1563624"/>
          </a:xfrm>
          <a:prstGeom prst="line">
            <a:avLst/>
          </a:prstGeom>
          <a:noFill/>
          <a:ln w="22860">
            <a:solidFill>
              <a:srgbClr val="404155"/>
            </a:solidFill>
            <a:prstDash val="dash"/>
          </a:ln>
        </p:spPr>
      </p:sp>
      <p:sp>
        <p:nvSpPr>
          <p:cNvPr id="44" name="Shape 42"/>
          <p:cNvSpPr/>
          <p:nvPr/>
        </p:nvSpPr>
        <p:spPr>
          <a:xfrm>
            <a:off x="5221224" y="5321808"/>
            <a:ext cx="0" cy="603504"/>
          </a:xfrm>
          <a:prstGeom prst="line">
            <a:avLst/>
          </a:prstGeom>
          <a:noFill/>
          <a:ln w="22860">
            <a:solidFill>
              <a:srgbClr val="404155"/>
            </a:solidFill>
            <a:prstDash val="dash"/>
          </a:ln>
        </p:spPr>
      </p:sp>
      <p:sp>
        <p:nvSpPr>
          <p:cNvPr id="45" name="Shape 43"/>
          <p:cNvSpPr/>
          <p:nvPr/>
        </p:nvSpPr>
        <p:spPr>
          <a:xfrm>
            <a:off x="1286561" y="5925312"/>
            <a:ext cx="11679631" cy="0"/>
          </a:xfrm>
          <a:prstGeom prst="line">
            <a:avLst/>
          </a:prstGeom>
          <a:noFill/>
          <a:ln w="22860">
            <a:solidFill>
              <a:srgbClr val="404155"/>
            </a:solidFill>
            <a:prstDash val="dash"/>
          </a:ln>
        </p:spPr>
      </p:sp>
      <p:sp>
        <p:nvSpPr>
          <p:cNvPr id="46" name="Shape 44"/>
          <p:cNvSpPr/>
          <p:nvPr/>
        </p:nvSpPr>
        <p:spPr>
          <a:xfrm flipV="1">
            <a:off x="12966192" y="4361688"/>
            <a:ext cx="0" cy="1563624"/>
          </a:xfrm>
          <a:prstGeom prst="line">
            <a:avLst/>
          </a:prstGeom>
          <a:noFill/>
          <a:ln w="22860">
            <a:solidFill>
              <a:srgbClr val="404155"/>
            </a:solidFill>
            <a:prstDash val="dash"/>
            <a:tailEnd type="triangle"/>
          </a:ln>
        </p:spPr>
      </p:sp>
      <p:sp>
        <p:nvSpPr>
          <p:cNvPr id="47" name="Text 45"/>
          <p:cNvSpPr/>
          <p:nvPr/>
        </p:nvSpPr>
        <p:spPr>
          <a:xfrm>
            <a:off x="509321" y="6281928"/>
            <a:ext cx="13624560" cy="347472"/>
          </a:xfrm>
          <a:prstGeom prst="rect">
            <a:avLst/>
          </a:prstGeom>
          <a:noFill/>
          <a:ln/>
        </p:spPr>
        <p:txBody>
          <a:bodyPr wrap="square" lIns="0" tIns="0" rIns="0" bIns="0" rtlCol="0" anchor="ctr"/>
          <a:lstStyle/>
          <a:p>
            <a:pPr indent="0" marL="0">
              <a:buNone/>
            </a:pPr>
            <a:r>
              <a:rPr lang="en-US" sz="1800" dirty="0">
                <a:solidFill>
                  <a:srgbClr val="404155"/>
                </a:solidFill>
                <a:latin typeface="Pretendard" pitchFamily="34" charset="0"/>
                <a:ea typeface="Pretendard" pitchFamily="34" charset="-122"/>
                <a:cs typeface="Pretendard" pitchFamily="34" charset="-120"/>
              </a:rPr>
              <a:t>오류 또는 시간 부족 → S-R6에서 오류 반환. SQL 재생성 없음</a:t>
            </a:r>
            <a:endParaRPr lang="en-US" sz="1800" dirty="0"/>
          </a:p>
        </p:txBody>
      </p:sp>
      <p:sp>
        <p:nvSpPr>
          <p:cNvPr id="48" name="Shape 46"/>
          <p:cNvSpPr/>
          <p:nvPr/>
        </p:nvSpPr>
        <p:spPr>
          <a:xfrm>
            <a:off x="509321" y="6903720"/>
            <a:ext cx="228600" cy="228600"/>
          </a:xfrm>
          <a:prstGeom prst="rect">
            <a:avLst/>
          </a:prstGeom>
          <a:solidFill>
            <a:srgbClr val="1E2A5C"/>
          </a:solidFill>
          <a:ln w="12700">
            <a:solidFill>
              <a:srgbClr val="1E2A5C"/>
            </a:solidFill>
            <a:prstDash val="solid"/>
          </a:ln>
        </p:spPr>
      </p:sp>
      <p:sp>
        <p:nvSpPr>
          <p:cNvPr id="49" name="Text 47"/>
          <p:cNvSpPr/>
          <p:nvPr/>
        </p:nvSpPr>
        <p:spPr>
          <a:xfrm>
            <a:off x="85679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규칙 코드</a:t>
            </a:r>
            <a:endParaRPr lang="en-US" sz="1600" dirty="0"/>
          </a:p>
        </p:txBody>
      </p:sp>
      <p:sp>
        <p:nvSpPr>
          <p:cNvPr id="50" name="Shape 48"/>
          <p:cNvSpPr/>
          <p:nvPr/>
        </p:nvSpPr>
        <p:spPr>
          <a:xfrm>
            <a:off x="3801161" y="6903720"/>
            <a:ext cx="228600" cy="228600"/>
          </a:xfrm>
          <a:prstGeom prst="rect">
            <a:avLst/>
          </a:prstGeom>
          <a:solidFill>
            <a:srgbClr val="2E74C6"/>
          </a:solidFill>
          <a:ln w="12700">
            <a:solidFill>
              <a:srgbClr val="2E74C6"/>
            </a:solidFill>
            <a:prstDash val="solid"/>
          </a:ln>
        </p:spPr>
      </p:sp>
      <p:sp>
        <p:nvSpPr>
          <p:cNvPr id="51" name="Text 49"/>
          <p:cNvSpPr/>
          <p:nvPr/>
        </p:nvSpPr>
        <p:spPr>
          <a:xfrm>
            <a:off x="414863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LLM 호출</a:t>
            </a:r>
            <a:endParaRPr lang="en-US" sz="1600" dirty="0"/>
          </a:p>
        </p:txBody>
      </p:sp>
      <p:sp>
        <p:nvSpPr>
          <p:cNvPr id="52" name="Shape 50"/>
          <p:cNvSpPr/>
          <p:nvPr/>
        </p:nvSpPr>
        <p:spPr>
          <a:xfrm>
            <a:off x="7093001" y="6903720"/>
            <a:ext cx="228600" cy="228600"/>
          </a:xfrm>
          <a:prstGeom prst="rect">
            <a:avLst/>
          </a:prstGeom>
          <a:solidFill>
            <a:srgbClr val="4A5364"/>
          </a:solidFill>
          <a:ln w="12700">
            <a:solidFill>
              <a:srgbClr val="4A5364"/>
            </a:solidFill>
            <a:prstDash val="solid"/>
          </a:ln>
        </p:spPr>
      </p:sp>
      <p:sp>
        <p:nvSpPr>
          <p:cNvPr id="53" name="Text 51"/>
          <p:cNvSpPr/>
          <p:nvPr/>
        </p:nvSpPr>
        <p:spPr>
          <a:xfrm>
            <a:off x="744047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내부 DB</a:t>
            </a:r>
            <a:endParaRPr lang="en-US" sz="1600" dirty="0"/>
          </a:p>
        </p:txBody>
      </p:sp>
      <p:sp>
        <p:nvSpPr>
          <p:cNvPr id="54" name="Shape 52"/>
          <p:cNvSpPr/>
          <p:nvPr/>
        </p:nvSpPr>
        <p:spPr>
          <a:xfrm>
            <a:off x="10384841" y="6903720"/>
            <a:ext cx="228600" cy="228600"/>
          </a:xfrm>
          <a:prstGeom prst="rect">
            <a:avLst/>
          </a:prstGeom>
          <a:solidFill>
            <a:srgbClr val="404155"/>
          </a:solidFill>
          <a:ln w="12700">
            <a:solidFill>
              <a:srgbClr val="404155"/>
            </a:solidFill>
            <a:prstDash val="solid"/>
          </a:ln>
        </p:spPr>
      </p:sp>
      <p:sp>
        <p:nvSpPr>
          <p:cNvPr id="55" name="Text 53"/>
          <p:cNvSpPr/>
          <p:nvPr/>
        </p:nvSpPr>
        <p:spPr>
          <a:xfrm>
            <a:off x="1073231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오류 경로: 점선</a:t>
            </a:r>
            <a:endParaRPr lang="en-US" sz="1600" dirty="0"/>
          </a:p>
        </p:txBody>
      </p:sp>
      <p:sp>
        <p:nvSpPr>
          <p:cNvPr id="56" name="Shape 54"/>
          <p:cNvSpPr/>
          <p:nvPr/>
        </p:nvSpPr>
        <p:spPr>
          <a:xfrm>
            <a:off x="509321" y="7388352"/>
            <a:ext cx="13624560" cy="0"/>
          </a:xfrm>
          <a:prstGeom prst="line">
            <a:avLst/>
          </a:prstGeom>
          <a:noFill/>
          <a:ln w="12700">
            <a:solidFill>
              <a:srgbClr val="E9ECF3"/>
            </a:solidFill>
            <a:prstDash val="solid"/>
          </a:ln>
        </p:spPr>
      </p:sp>
      <p:sp>
        <p:nvSpPr>
          <p:cNvPr id="57" name="Text 5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S-R1 검색 요청 접수와 검증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허용된 회원 범위와 질문만 다음 단계로 전달</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검색 요청 접수와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트리거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허용된 회원 범위와 질문만 다음 단계로 전달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question(string,필수,질문), auth_scope(AuthScope,필수,인증), config(Config,필수,설정)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시간 초기화 2. 회원 권한 검증 3. 식별자 제거 4. 정책과 날짜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context(Context,필수,공통 필드와 error:Error|null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입력, 권한 또는 정제 실패 시 오류 상태로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원문과 회원ID는 외부 전송과 일반 로그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S-R2 정형쿼리 또는 NL2SQL 판단</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고정 조회를 먼저 쓰고 미해당 질문만 SQL 생성</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정형쿼리 또는 NL2SQL 판단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고정 조회를 먼저 쓰고 미해당 질문만 SQL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context(Context,필수,S-R1 출력 전체)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고정 조건 일치 검사 2. 일치 시 Q-ID 선택 3. 미일치 시 C-01 1회 호출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plan:Plan,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 + 생성형AI</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Groq LLM(C-01, NL2SQL 경로만)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시간 초과, 잘못된 JSON, 모호한 질문은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LLM 최대 1회, 통신 재시도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S-R3 계획 적합성 판정</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제공 가능한 기간과 결과 단위에 맞는 조회만 진행</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계획 적합성 판정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제공 가능한 기간과 결과 단위에 맞는 조회만 진행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context(Context,필수,S-R2 출력과 plan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계획 상태 확인 2. 질문 조건과 계획 비교 3. 뷰, 기간, 단위와 제공 범위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plan_check:boolean,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미지원 기간, 단위 또는 불명확한 조건은 S-R6으로 오류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수정과 LLM 재호출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S-R4 SQL 검증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허용된 읽기 전용 SQL만 실행 단계로 전달</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허용된 읽기 전용 SQL만 실행 단계로 전달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context(Context,필수,S-R3 출력과 plan_check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구문 트리 검사 2. 뷰, 컬럼과 함수 검사 3. SELECT와 LIMIT 검사 4. SQL 고정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validated_sql:string, sql_fingerprint:string,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SQL_REJECTED로 S-R6 이동. SQL 재생성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 SQL도 같은 검사를 통과해야 실행 가능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S-R5 SQL 실행</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같은 회원 범위에서 검증된 SQL 결과만 수신</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실행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같은 회원 범위에서 검증된 SQL 결과만 수신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context(Context,필수,S-R4 출력과 validated_sql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연결 확보 2. 읽기 전용 트랜잭션 3. 세션 변수 3개 설정 4. 제한 시간 내 조회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result:QueryResult,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없음(시스템 내부 DB)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취소와 롤백, 오염 연결 폐기 후 DB 오류를 숨기고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200행. statement_timeout은 남은 예산 이하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S-R6 응답 구성과 반환</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결과 범위와 한계를 포함한 일관된 응답 반환</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응답 구성과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S-R5 성공 또는 S-R1 ~ S-R5 오류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범위와 한계를 포함한 일관된 응답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출력. result:QueryResult 또는 error:Error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성공/오류 선택 2. 범위와 단위 부착 3. 민감정보 제외 4. 응답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response(Response,필수,응답), http_status(integer,필수,HTTP 상태)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직렬화 실패 시 최소 오류 응답. 전송 불가 시 연결 종료 기록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종료용 1초 사용. 시작 기준 1.5초 검사 예외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③ 외부시스템 연동 명세</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외부 호출은 S-R2의 Groq LLM 1개이며 최대 대기는 15초임</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 / 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 / Groq</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연동 유형 / 커넥터ID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LLM / C-01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타임아웃 / 재시도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15초 / 0회. SDK 자동 재시도도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최악값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15 × (1 + 0) = 15초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부분결과 검토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불가. 완성된 SQL이 없으면 검증과 조회가 불가능함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대체 경로 검토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불가. 고정 조회 미일치 후 호출하며 보조 모델은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초과 시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안전 종료. UPSTREAM_TIMEOUT을 담아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내부 DB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외부 연동 목록에서 제외. 전체 예산의 내부 처리 몫 사용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④ 반복 구간 명세</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반복 구간은 해당없음이며 모든 실패는 응답 단계로 이동함</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반복구간ID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해당없음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한 번의 검증된 조회와 예측 가능한 대기 시간 유지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 / 재시도 횟수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해당없음 /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반복 구간 최악값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0초. 되돌아가는 흐름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착지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S-R6 응답 구성과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반복이 아닌 동작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S-R2의 고정/LLM 선택은 한 번의 분기이며 재실행이 아님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재시도와 SQL 재생성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통신 0회, SQL 재생성 0회, DB 자동 재실행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호출자 재요청</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새 요청으로 처음부터 처리. 서버 내부 반복과 별개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⑤ 워크플로우 명세와 예산</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외부 최악값 15초를 뺀 여유 15초에서 종료와 내부 처리를 나눔</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54959">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워크플로우ID / 이름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W-1 / SQL 검색기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질문에 맞는 허용 조회를 선택하고 근거 DB 결과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909571">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전체 시간 예산 / 종료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30초 / 1초. 사용자 채택 설계 가정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최악값 합계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max(정형 0초, NL2SQL 15초) + 반복 0초 = 15초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예산 대조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15초 ≤ 30초. 외부 연동 합계 기준 통과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여유 배분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30 - 15 = 15초. 종료 1초 제외 내부 DB와 규칙 14초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조정 과정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외부 합계가 예산 이내여서 추가 축소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재개 방안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해당없음. 읽기 전용 요청으로 새 요청 시 처음부터 수행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커넥터 목록과 연결 방식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SQL을 생성하는 C-01만 외부 커넥터로 등록함</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ID / 커넥터명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C-01 / 조회 계획과 SQL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연동 방식 / 제공자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LLM / Groq</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모델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openai/gpt-oss-120b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베이스 URL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https://api.groq.com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요청 경로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POST /openai/v1/chat/completions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인증 / 키 환경변수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Authorization: Bearer / GROQ_API_KEY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SDK</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AsyncGroq 기본 주소 사용. max_retries=0, timeout=15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DB 제외 이유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PostgreSQL은 시스템 내부 구성요소이므로 목록에서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Groq 공식 API와 SDK 문서,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실행 설정</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단일 SQL 계획의 변동을 줄이고 출력 구조를 제한하는 기본값 채택</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4114800"/>
                <a:gridCol w="950976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temperature / top_p</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0.1 / 1. 지원 범위 0 ~ 2 / 0 ~ 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max_completion_tokens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2048. 설계 가정이며 출력 잘림 여부 실측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모델 공식 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출력 65536토큰, 문맥 131072토큰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reasoning_effort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low. 지원값 low / medium / high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include_reasoning / stream / 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false / false / 1. 중간 추론 저장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response_format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type=json_schema, json_schema.strict=true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미전송 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tools, top_k, reasoning_format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시간과 재시도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15초, max_retries=0. 절대 종료시각도 별도 통제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Groq API, 모델, 구조화 출력 문서,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요청 한도와 실패 처리</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조직별 실제 한도를 확인하고 요청 안에서는 자동 재시도를 하지 않음</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54959">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요청 한도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Groq 조직 단위. 현재 계정 실제 한도는 확인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공개 요금제 예시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Free 한도 예시는 실제 계정 한도로 채택하지 않음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확인 방법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계정 Limits 화면과 응답 제한 헤더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429와 제공자 오류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UPSTREAM_UNAVAILABLE로 변환. 요청 내 재시도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 초과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UPSTREAM_TIMEOUT으로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909571">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JSON 실패 또는 출력 잘림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INVALID_MODEL_OUTPUT으로 종료. SQL 복구와 재생성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SDK 근거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공식 groq-python README. context7 도구 부재로 대체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추가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설정 조합, 2048토큰 완결성, 15초/30초 달성률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Groq rate-limits와 공식 SDK,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시스템 프롬프트 요약</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질문은 데이터로 취급하고 허용 스키마 안의 계획과 SQL만 생성함</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단일 조회 계획과 검증 가능한 SQL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[역할]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검색기 전용 계획 작성자. 실행 권한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[맥락]</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고정 조회 미해당 질문만 처리. 결과 데이터 수신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정제 질문, 조건, 날짜, 허용 스키마와 SQL 정책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지원 가능성 → 단일 뷰 → 기간과 단위 → SQL 작성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Plan JSON 1개. 설명 문장과 코드 울타리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[제약조건]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 밖 조회, 식별자 추정, 세션 조작과 다중 문장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지원 질문 ready, 모호한 질문 ambiguous와 null 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유저 프롬프트와 전송 경계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정제 질문과 공개 논리 스키마만 보내고 회원 범위와 결과는 내부에 둠</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4114800"/>
                <a:gridCol w="950976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question_clean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string, 필수. S-R1이 식별자를 제거한 질문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question_slots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object, 필수. 규칙으로 확인한 기간, 지표와 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base_date / coverage_start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 필수. 데이터 기준일과 제공 시작일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schema_catalog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object, 필수. 허용 app 뷰 7개와 컬럼 정의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sql_policy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object, 필수. 허용 문법, 함수와 최대 200행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유저 프롬프트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위 변수를 JSON 직렬화한 뒤 XML retriever_input 안에 삽입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전송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원문 질문, 회원ID, 카드번호, 인증정보, 내부 뷰, DB 결과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일반 로그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request_id, 단계, 경로, 소요시간, 행수, 오류 코드만 기록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응답 데이터 구조</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모델의 계획은 다음 두 단계에서 다시 검사하는 입력일 뿐임</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4389120"/>
                <a:gridCol w="92354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모두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의미와 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status(string)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ready / unsupported / ambiguous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reason_code(string)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OK / UNSUPPORTED / AMBIGUOUS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view(string|null)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 뷰 1개. ready가 아니면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sql(string|null)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단일 SELECT. ready가 아니면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grain(string|null)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profile / card / card_month / merchant_month / month / day / aggregate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period_start(string|null)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YYYY-MM-DD 시작일. 기간 없는 조회는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period_end(string|null)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YYYY-MM-DD 종료일. 기간 없는 조회는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selected_columns(array&lt;string&gt;)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컬럼 또는 집계 별칭. 실패 시 빈 배열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⑥ 남은 시간 예산 정책</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종료와 미실행 외부 호출 몫을 먼저 확보한 뒤 단계 시작 여부를 판단함</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측정 시점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 ~ S-R5 직전. S-R2 분기 확정 후 다시 측정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남은 시간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실제 경과시간 - 종료 1초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남은 시간 예산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남은 시간 - 남은 외부 연동 최악값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시작 기준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5% = 1.5초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시작 조건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남은 시간 예산 ≥ 1.5초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분기 미정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남은 외부 최악값 max(0, 15) = 15초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경로 확정 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 0초, LLM 호출 전 15초, 호출 후 0초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S-R6 예외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종료용 1초 사용. 1.5초 검사 재적용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⑥ 남은 예산 계산 예</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실제 경과시간과 남은 호출에 따라 같은 30초 예산의 진행 여부가 달라짐</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474720"/>
                <a:gridCol w="101498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시점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계산과 판정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S-R1, 경과 0초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30 - 0 - 1 - 15 = 14초 ≥ 1.5초 →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S-R2 NL2SQL, 경과 2초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30 - 2 - 1 - 15 = 12초 ≥ 1.5초 → 호출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S-R3, 경과 17초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30 - 17 - 1 - 0 = 12초 ≥ 1.5초 →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S-R5, 경과 27초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30 - 27 - 1 - 0 = 2초 ≥ 1.5초 →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S-R5, 경과 28초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30 - 28 - 1 - 0 = 1초 &lt; 1.5초 →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S-R2 정형, 경과 12초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분기 전 2초로 통과 → 분기 후 30 - 12 - 1 - 0 = 17초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⑥ 예산 부족 시 착지와 DB 제한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DB 연결 대기부터 결과 수신까지 같은 절대 종료시각으로 제한함</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S-R1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부분결과와 대체 없음 → TIME_BUDGET_EXCEEDED로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S-R3 /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전 결과 사용 불가 → 같은 오류로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미완료 결과 반환 불가 → 취소 후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성공 또는 최소 오류 응답으로 종료. 추가 호출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절대 종료시각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시작 + 30초. 내부 작업 종료는 1초 앞선 시각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DB 대기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풀, 연결, 세션 설정, 실행과 수신 모두 동일 시각으로 제한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statement_timeout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각 SQL 직전 남은 내부 시간 이하의 양수 밀리초로 지정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정리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취소와 롤백도 제한 안에서 수행. 미완료 연결은 폐기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공개 논리 뷰 목록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논리 뷰는 허용된 컬럼과 기간으로 데이터를 보여 주는 DB 조회 창임</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허용 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제공 내용과 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app.customer_profile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기준일까지 가입한 회원의 가입일과 연령대 / 회원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app.customer_cards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기준일까지 발급한 카드, 상품과 연회비 / 카드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app.monthly_usage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기준월 포함 최근 6개월 승인 사용액 / 카드와 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app.customer_delinquency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기준일에 완료된 최신 연체 월 / 회원과 완료월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app.merchant_usage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승인 사용액 / 카드, 월과 가맹점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app.customer_delinquency_history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최대 12개 완료월의 연체 / 회원과 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app.customer_daily_usage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최대 90일 승인 사용액 / 회원과 날짜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04, 05, 06 SQL 정의와 db_catalog.json</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내부 뷰와 조사 범위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보이는 11개 뷰 중 LLM 허용 범위는 공개 app 뷰 7개임</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대상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 처리와 확인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app_internal.customer_cards_full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원본 card_id 포함.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app_internal.member_basic</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원본 member_id 포함.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app_internal.request_scope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시간 범위 조립.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app_internal.usage_months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조립.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04 SQL과 DB 비교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04 SQL 8개 모두 존재. DB 추가 뷰 3개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추가 정의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05_merchant_usage.sql, 06_history_daily_usage.sql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접근 조사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cardlab에서 11개 LIMIT 0 성공. 업무 행 읽기 0건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확인 한계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관리자 조사로 실행 계정 최소 권한을 검증할 수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기간과 값 해석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같은 사용액이어도 뷰별 제공 기간과 데이터가 없는 날짜의 표현이 다름</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월별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기준월 포함 6개월. 제공 시작월과 카드 발급일에 따라 조정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가맹점별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6개월 창, 제공 시작일, 카드 발급일 중 가장 늦은 날부터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일별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 포함 최대 90일. 제공 시작일과 가입일 이후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연체 이력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기준일에 완료된 마지막 월부터 최대 12개월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행 없음과 0</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서로 구분. 일별/월별 뷰는 조건에 따라 0값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회원 안의 카드 표시값. 영구 전역ID나 원본 카드ID가 아님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상품과 상태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current_status는 현재 상태이며 과거 이력이 아님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월중 제공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월별 뷰는 시작월 기준. 부분월 완전성 별도 확인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04, 05, 06 SQL 정의</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customer_cards 컬럼 (1/2)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product_name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brand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issue_date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current_status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customer_cards 컬럼 (2/2)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6583680"/>
                <a:gridCol w="7040880"/>
              </a:tblGrid>
              <a:tr h="133731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product_effective_date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is_product_effective_on_base_date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boolean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annual_fee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customer_daily_usage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133731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usage_date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approved_amount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bigint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transaction_count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customer_delinquency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89154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character(7)</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as_of_date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overdue_days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overdue_count_12m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customer_delinquency_history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89154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character(7)</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as_of_date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overdue_days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overdue_count_12m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customer_profile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178308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78308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join_date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78308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age_band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merchant_usage 컬럼 (1/2)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period_end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merchant_name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category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merchant_usage 컬럼 (2/2)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1069848">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first_approved_date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last_approved_date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approved_amount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bigint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transaction_count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monthly_usage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period_end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approved_amount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bigint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transaction_count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정형쿼리 목록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모든 조건이 정확히 맞으면 고정 SQL을 선택하고 일부만 맞으면 사용하지 않음</a:t>
            </a:r>
            <a:endParaRPr lang="en-US" sz="1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1280160"/>
                <a:gridCol w="6400800"/>
                <a:gridCol w="594360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질문 목적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회원 가입일과 연령대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 1명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보유 카드와 연회비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카드별 사용액과 건수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1개와 월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 이전 완료월의 최신 연체 현황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회원의 최신 완료월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가맹점과 업종별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 월 1개, 가맹점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12개 완료월의 연체 이력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완료월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Q-07</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최대 90일의 일별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날짜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EXPLAIN 7/7</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Q-01 회원 가입일과 연령대</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 1명 단위의 고정 조회이며 EXPLAIN 통과</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join_date, age_band</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app.customer_profile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1;</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 1명</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통과. 문법과 조사 계정 권한 확인</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Q-02 보유 카드와 연회비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카드 1개 단위의 고정 조회이며 EXPLAIN 통과</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card_ref, product_id, product_name, brand, issue_date, current_status,</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product_effective_date, is_product_effective_on_base_date, annual_fee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app.customer_cards</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card_ref</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200;</a:t>
            </a:r>
            <a:endParaRPr lang="en-US" sz="1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통과. 문법과 조사 계정 권한 확인</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Q-03 최근 6개월 카드별 사용액과 건수</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카드 1개와 월 1개 단위의 고정 조회이며 EXPLAIN 통과</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card_ref, month, period_start, period_end, approved_amount,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transaction_count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app.monthly_usage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month DESC, card_ref</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200;</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1개와 월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통과. 문법과 조사 계정 권한 확인</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Q-04 기준일 이전 완료월의 최신 연체 현황</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회원의 최신 완료월 1개 단위의 고정 조회이며 EXPLAIN 통과</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base_month, as_of_date, overdue_amount, overdue_days, overdue_count_12m</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app.customer_delinquency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base_month DESC</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1;</a:t>
            </a:r>
            <a:endParaRPr lang="en-US" sz="1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회원의 최신 완료월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통과. 문법과 조사 계정 권한 확인</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Q-05 최근 6개월 가맹점과 업종별 사용액</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카드 1개, 월 1개, 가맹점 1개 단위의 고정 조회이며 EXPLAIN 통과</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card_ref, month, period_start, period_end, merchant_name, category,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first_approved_date, last_approved_date, approved_amount,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transaction_count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app.merchant_usage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month DESC, approved_amount DESC, card_ref, merchant_name, category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200;</a:t>
            </a:r>
            <a:endParaRPr lang="en-US" sz="1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 월 1개, 가맹점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통과. 문법과 조사 계정 권한 확인</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Q-06 최근 12개 완료월의 연체 이력</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회원과 완료월 1개 단위의 고정 조회이며 EXPLAIN 통과</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base_month, as_of_date, overdue_amount, overdue_days, overdue_count_12m</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app.customer_delinquency_history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base_month DESC</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12;</a:t>
            </a:r>
            <a:endParaRPr lang="en-US" sz="1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완료월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통과. 문법과 조사 계정 권한 확인</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Q-07 최근 최대 90일의 일별 사용액</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회원과 날짜 1개 단위의 고정 조회이며 EXPLAIN 통과</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usage_date, approved_amount, transaction_count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app.customer_daily_usage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usage_date DESC</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90;</a:t>
            </a:r>
            <a:endParaRPr lang="en-US" sz="1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날짜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통과. 문법과 조사 계정 권한 확인</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SQL 검증 규칙 1: 구조</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금지어 검사에 더해 SQL의 문법 구조 전체를 확인함</a:t>
            </a:r>
            <a:endParaRPr lang="en-US" sz="1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허용 문장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단일 SELECT 1개. 끝 세미콜론 1개만 허용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조회 대상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app 허용 뷰 1개와 해당 허용 컬럼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허용 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WHERE, GROUP BY, HAVING, ORDER BY, LIMIT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행 제한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정수 상수 LIMIT 1 ~ 200 필수. OFFSET과 FETCH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컬럼 선택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SELECT * 금지. COUNT(*)는 허용 집계 예외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금지 구조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CTE, 서브쿼리, JOIN, 쉼표 조인, UNION, 집합 연산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금지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데이터 변경, DDL, 권한 변경, SET, COPY, SELECT INTO, 잠금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참조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원본 테이블, app_internal, 시스템 카탈로그와 세션 변수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SQL 검증 규칙 2: 식과 실행</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모든 식과 이름을 확인하고 검사한 SQL 그대로 실행함</a:t>
            </a:r>
            <a:endParaRPr lang="en-US" sz="1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허용 함수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COUNT, SUM, AVG, MIN, MAX, COALESCE, ROUND, DATE_TRUNC, TO_CHAR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함수 해석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허용된 pg_catalog 함수와 인자형으로 제한. 임의 함수 거부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연산자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비교, AND/OR/NOT, IS NULL, IN 상수목록, BETWEEN, 사칙연산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형변환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검증된 date와 numeric 상수만 허용. 사용자 정의 타입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제외 표현식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CASE, 창 함수, 테이블 함수, 사용자 정의 연산자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두 경로 공통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동일 검증기 사용. 정형 Q-ID와 등록 SQL 해시 일치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실행 일치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validated_sql 고정. S-R5에서 해시 재확인 후 그대로 실행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크기 상한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16KiB, 결과 200행/1MiB. 바이트값은 설계 가정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DB 실행과 회원 범위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인증된 회원만 세션에 설정하고 요청 후 연결에 범위를 남기지 않음</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회원 범위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인증 계층이 접근 권한을 확인한 회원ID. 질문에서 추출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세션 변수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app.member_id, app.base_date, app.coverage_start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설정 방법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같은 연결의 읽기 전용 트랜잭션에서 set_config(..., true)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지역 설정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트랜잭션 종료 시 해제. 실패 연결과 오염 상태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읽기 전용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default_transaction_read_only=on 및 BEGIN READ ONLY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RLS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행 수준 보안: 회원별로 볼 수 있는 행을 제한하는 DB 규칙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확인 근거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app_reader 비관리자 속성과 회원 SELECT 정책 4개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미검증 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실행 계정 최소 권한과 실제 회원 간 격리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04 SQL와 db_catalog.json</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입력 필드와 공통 상태 1</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입구에서 만든 상태를 모든 단계가 그대로 이어받음</a:t>
            </a:r>
            <a:endParaRPr lang="en-US" sz="1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정의와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트리거 원본 질문. 최대 4KiB 설계 가정. 정제 후 폐기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auth_scope(AuthScope,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인증 주체와 조회 허용 회원. 인증 계층 제공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config(Config,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정책 버전, 스키마, 고정 조회와 날짜. 서비스 제공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request_id(string,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입구가 생성한 추적값. 민감정보 포함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started_at(number,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입구의 단조 시계 시작값. 단위 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deadline_at(number,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started_at + 30초인 절대 종료시각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member_scope(string,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권한 검증을 통과한 회원ID. 내부 전용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입력 필드와 공통 상태 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정제 질문과 조회 정책을 S-R1에서 확정하고 이후에 넓히지 않음</a:t>
            </a:r>
            <a:endParaRPr lang="en-US" sz="1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정의와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base_date(date,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config의 신뢰된 데이터 기준일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coverage_start(date,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config의 거래 제공 시작일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question_clean(string,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개인 식별자 제거 완료 질문. S-R1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question_slots(object,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 추출 기간, 지표, 단위. 불명확 값은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schema_catalog(object,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7개 공개 뷰와 타입, 의미와 기간. 버전 고정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query_catalog(object,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Q-01 ~ Q-07 SQL과 선택 조건. 버전 고정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policy(object,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목록, 크기, 시간, 프롬프트 버전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error(Error|null,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정상은 null. 실패 단계에서 오류 객체 저장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단계별 추가 상태와 계획</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모든 추가 필드는 Context 안에 저장되며 이전 공통 상태와 함께 전달함</a:t>
            </a:r>
            <a:endParaRPr lang="en-US" sz="1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 시점)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context.plan(Plan, S-R2 성공)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모델 응답에 route와 query_id를 코드가 추가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plan.route(string,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fixed 또는 nl2sql. 코드가 경로 결정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plan.query_id(string|null,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고정 경로 Q-ID, 생성 경로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context.plan_check(boolean, 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기간, 지표, 단위와 뷰 적합성 통과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context.validated_sql(string,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구문과 허용 범위 검사 통과 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context.sql_fingerprint(string,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검사 SQL 바이트의 SHA-256 해시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context.result(QueryResult,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행, 컬럼, 단위, 적용 기간과 행 상한 정보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결과와 응답 필드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호출자는 행과 적용 기간을 함께 받아 조회 한계를 확인함</a:t>
            </a:r>
            <a:endParaRPr lang="en-US" sz="1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result.rows(array&lt;object&gt;)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 컬럼의 결과. 최대 200행과 1MiB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result.columns(array&lt;object&gt;)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이름, DB 타입, 표시 단위. 통화 확인 전 currency=null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result.grain(string)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1행의 의미를 나타내는 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result.period(object|null)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적용 시작일/종료일. 기간 없는 조회는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result.possible_more(boolean)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행수가 SQL LIMIT에 도달하면 true. 확정 초과값 아님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Response.request_id / status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string / success 또는 error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Response.data / error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성공 QueryResult 또는 Error. 하나만 값 보유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Response.meta(object)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 제공 시작일, 경로, Q-ID, warnings 배열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오류 응답 1: 요청과 계획</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호출자에게 재입력에 필요한 설명만 반환함</a:t>
            </a:r>
            <a:endParaRPr lang="en-US" sz="1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474720"/>
                <a:gridCol w="3200400"/>
                <a:gridCol w="69494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오류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HTTP /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호출자 메시지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INVALID_REQUEST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400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질문과 필수 입력을 확인해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UNAUTHORIZED_SCOPE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403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권한이 없습니다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PRIVACY_REJECTED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개인정보를 제외하고 다시 입력해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CONFIG_UNAVAILABLE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503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기준 정보를 준비하지 못했습니다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AMBIGUOUS_REQUEST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S-R2, 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기간과 항목을 구체적으로 입력해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UNSUPPORTED_REQUEST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S-R2, 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현재 제공하는 조회 범위를 벗어났습니다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INVALID_MODEL_OUTPUT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502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계획을 만들지 못했습니다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오류 응답 2: 검증과 실행</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불완전한 SQL이나 실행 결과를 성공으로 바꾸지 않음</a:t>
            </a:r>
            <a:endParaRPr lang="en-US" sz="1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474720"/>
                <a:gridCol w="3200400"/>
                <a:gridCol w="69494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오류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HTTP /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호출자 메시지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SQL_REJECTED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안전하게 실행할 수 없는 조회입니다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UPSTREAM_TIMEOUT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504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계획 생성 시간이 초과되었습니다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UPSTREAM_UNAVAILABLE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503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계획 서비스를 사용할 수 없습니다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TIME_BUDGET_EXCEEDED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504 / S-R1 ~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검색 처리 시간이 초과되었습니다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DB_EXECUTION_FAILED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503 /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중 오류가 발생했습니다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RESULT_TOO_LARGE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범위를 줄여 다시 요청해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RESPONSE_FAILED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500 /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응답을 구성하지 못했습니다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설계 점검표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설계 확인과 구현 후 확인할 항목을 분리함</a:t>
            </a:r>
            <a:endParaRPr lang="en-US" sz="18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점검 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상태와 근거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6단계와 연결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 → S-R6 순서, 오류는 S-R6 합류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입출력 필드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 공통 상태와 단계별 추가 필드로 연결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 계산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외부 15초 ≤ 전체 30초. 종료 제외 내부 14초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정형 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7개 EXPLAIN 통과. 실제 결과와 성능 미검증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뷰 접근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관리자에서 11개 LIMIT 0 통과. 공개 허용 7개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회원 격리와 권한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정책 메타데이터 확인. 격리와 최소 권한 실행 미검증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실측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30초 종료, DB 취소, 크기 상한, 정제와 의미 판정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운영 전 확정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날짜 신선도, 통화 단위, Groq 조직별 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Pretendard"/>
        <a:font script="Jpan" typeface="Pretendard"/>
        <a:font script="Hang" typeface="Pretendard"/>
        <a:font script="Hans" typeface="Pretendard"/>
        <a:font script="Hant" typeface="Pretendard"/>
        <a:font script="Arab" typeface="Pretendard"/>
        <a:font script="Hebr" typeface="Pretendard"/>
        <a:font script="Thai" typeface="Pretendard"/>
        <a:font script="Ethi" typeface="Pretendard"/>
        <a:font script="Beng" typeface="Pretendard"/>
        <a:font script="Gujr" typeface="Pretendard"/>
        <a:font script="Khmr" typeface="Pretendard"/>
        <a:font script="Knda" typeface="Pretendard"/>
        <a:font script="Guru" typeface="Pretendard"/>
        <a:font script="Cans" typeface="Pretendard"/>
        <a:font script="Cher" typeface="Pretendard"/>
        <a:font script="Yiii" typeface="Pretendard"/>
        <a:font script="Tibt" typeface="Pretendard"/>
        <a:font script="Thaa" typeface="Pretendard"/>
        <a:font script="Deva" typeface="Pretendard"/>
        <a:font script="Telu" typeface="Pretendard"/>
        <a:font script="Taml" typeface="Pretendard"/>
        <a:font script="Syrc" typeface="Pretendard"/>
        <a:font script="Orya" typeface="Pretendard"/>
        <a:font script="Mlym" typeface="Pretendard"/>
        <a:font script="Laoo" typeface="Pretendard"/>
        <a:font script="Sinh" typeface="Pretendard"/>
        <a:font script="Mong" typeface="Pretendard"/>
        <a:font script="Viet" typeface="Pretendard"/>
        <a:font script="Uigh" typeface="Pretendard"/>
        <a:font script="Geor" typeface="Pretendard"/>
        <a:font script="Armn" typeface="Pretendard"/>
        <a:font script="Bugi" typeface="Pretendard"/>
        <a:font script="Bopo" typeface="Pretendard"/>
        <a:font script="Java" typeface="Pretendard"/>
        <a:font script="Lisu" typeface="Pretendard"/>
        <a:font script="Mymr" typeface="Pretendard"/>
        <a:font script="Nkoo" typeface="Pretendard"/>
        <a:font script="Olck" typeface="Pretendard"/>
        <a:font script="Osma" typeface="Pretendard"/>
        <a:font script="Phag" typeface="Pretendard"/>
        <a:font script="Syrn" typeface="Pretendard"/>
        <a:font script="Syrj" typeface="Pretendard"/>
        <a:font script="Syre" typeface="Pretendard"/>
        <a:font script="Sora" typeface="Pretendard"/>
        <a:font script="Tale" typeface="Pretendard"/>
        <a:font script="Talu" typeface="Pretendard"/>
        <a:font script="Tfng" typeface="Pretendard"/>
      </a:majorFont>
      <a:minorFont>
        <a:latin typeface="Pretendard"/>
        <a:ea typeface="Pretendard"/>
        <a:cs typeface="Pretendard"/>
        <a:font script="Jpan" typeface="Pretendard"/>
        <a:font script="Hang" typeface="Pretendard"/>
        <a:font script="Hans" typeface="Pretendard"/>
        <a:font script="Hant" typeface="Pretendard"/>
        <a:font script="Arab" typeface="Pretendard"/>
        <a:font script="Hebr" typeface="Pretendard"/>
        <a:font script="Thai" typeface="Pretendard"/>
        <a:font script="Ethi" typeface="Pretendard"/>
        <a:font script="Beng" typeface="Pretendard"/>
        <a:font script="Gujr" typeface="Pretendard"/>
        <a:font script="Khmr" typeface="Pretendard"/>
        <a:font script="Knda" typeface="Pretendard"/>
        <a:font script="Guru" typeface="Pretendard"/>
        <a:font script="Cans" typeface="Pretendard"/>
        <a:font script="Cher" typeface="Pretendard"/>
        <a:font script="Yiii" typeface="Pretendard"/>
        <a:font script="Tibt" typeface="Pretendard"/>
        <a:font script="Thaa" typeface="Pretendard"/>
        <a:font script="Deva" typeface="Pretendard"/>
        <a:font script="Telu" typeface="Pretendard"/>
        <a:font script="Taml" typeface="Pretendard"/>
        <a:font script="Syrc" typeface="Pretendard"/>
        <a:font script="Orya" typeface="Pretendard"/>
        <a:font script="Mlym" typeface="Pretendard"/>
        <a:font script="Laoo" typeface="Pretendard"/>
        <a:font script="Sinh" typeface="Pretendard"/>
        <a:font script="Mong" typeface="Pretendard"/>
        <a:font script="Viet" typeface="Pretendard"/>
        <a:font script="Uigh" typeface="Pretendard"/>
        <a:font script="Geor" typeface="Pretendard"/>
        <a:font script="Armn" typeface="Pretendard"/>
        <a:font script="Bugi" typeface="Pretendard"/>
        <a:font script="Bopo" typeface="Pretendard"/>
        <a:font script="Java" typeface="Pretendard"/>
        <a:font script="Lisu" typeface="Pretendard"/>
        <a:font script="Mymr" typeface="Pretendard"/>
        <a:font script="Nkoo" typeface="Pretendard"/>
        <a:font script="Olck" typeface="Pretendard"/>
        <a:font script="Osma" typeface="Pretendard"/>
        <a:font script="Phag" typeface="Pretendard"/>
        <a:font script="Syrn" typeface="Pretendard"/>
        <a:font script="Syrj" typeface="Pretendard"/>
        <a:font script="Syre" typeface="Pretendard"/>
        <a:font script="Sora" typeface="Pretendard"/>
        <a:font script="Tale" typeface="Pretendard"/>
        <a:font script="Talu" typeface="Pretendard"/>
        <a:font script="Tfng" typeface="Pretendard"/>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design-agentic-ai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검색기 워크플로우 설계서</dc:title>
  <dc:subject>SQL 검색기 워크플로우 설계</dc:subject>
  <dc:creator>design-agentic-ai</dc:creator>
  <cp:lastModifiedBy>design-agentic-ai</cp:lastModifiedBy>
  <cp:revision>1</cp:revision>
  <dcterms:created xsi:type="dcterms:W3CDTF">2026-10-17T18:51:50Z</dcterms:created>
  <dcterms:modified xsi:type="dcterms:W3CDTF">2026-10-17T18:51:50Z</dcterms:modified>
</cp:coreProperties>
</file>