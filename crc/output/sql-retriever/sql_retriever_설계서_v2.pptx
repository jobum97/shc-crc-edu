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notesMasterIdLst>
    <p:notesMasterId r:id="rId64"/>
  </p:notesMasterIdLst>
  <p:sldSz cx="14630400" cy="8229600"/>
  <p:notesSz cx="8229600" cy="14630400"/>
  <p:defaultTextStyle>
    <a:lvl1pPr marL="0" algn="l" defTabSz="914400" rtl="0" eaLnBrk="1" latinLnBrk="0" hangingPunct="1">
      <a:defRPr sz="1800" kern="1200">
        <a:solidFill>
          <a:schemeClr val="tx1"/>
        </a:solidFill>
        <a:latin typeface="Pretendard"/>
        <a:ea typeface="Pretendard"/>
        <a:cs typeface="Pretendard"/>
      </a:defRPr>
    </a:lvl1pPr>
    <a:lvl2pPr marL="457200" algn="l" defTabSz="914400" rtl="0" eaLnBrk="1" latinLnBrk="0" hangingPunct="1">
      <a:defRPr sz="1800" kern="1200">
        <a:solidFill>
          <a:schemeClr val="tx1"/>
        </a:solidFill>
        <a:latin typeface="Pretendard"/>
        <a:ea typeface="Pretendard"/>
        <a:cs typeface="Pretendard"/>
      </a:defRPr>
    </a:lvl2pPr>
    <a:lvl3pPr marL="914400" algn="l" defTabSz="914400" rtl="0" eaLnBrk="1" latinLnBrk="0" hangingPunct="1">
      <a:defRPr sz="1800" kern="1200">
        <a:solidFill>
          <a:schemeClr val="tx1"/>
        </a:solidFill>
        <a:latin typeface="Pretendard"/>
        <a:ea typeface="Pretendard"/>
        <a:cs typeface="Pretendard"/>
      </a:defRPr>
    </a:lvl3pPr>
    <a:lvl4pPr marL="1371600" algn="l" defTabSz="914400" rtl="0" eaLnBrk="1" latinLnBrk="0" hangingPunct="1">
      <a:defRPr sz="1800" kern="1200">
        <a:solidFill>
          <a:schemeClr val="tx1"/>
        </a:solidFill>
        <a:latin typeface="Pretendard"/>
        <a:ea typeface="Pretendard"/>
        <a:cs typeface="Pretendard"/>
      </a:defRPr>
    </a:lvl4pPr>
    <a:lvl5pPr marL="1828800" algn="l" defTabSz="914400" rtl="0" eaLnBrk="1" latinLnBrk="0" hangingPunct="1">
      <a:defRPr sz="1800" kern="1200">
        <a:solidFill>
          <a:schemeClr val="tx1"/>
        </a:solidFill>
        <a:latin typeface="Pretendard"/>
        <a:ea typeface="Pretendard"/>
        <a:cs typeface="Pretendard"/>
      </a:defRPr>
    </a:lvl5pPr>
    <a:lvl6pPr marL="2286000" algn="l" defTabSz="914400" rtl="0" eaLnBrk="1" latinLnBrk="0" hangingPunct="1">
      <a:defRPr sz="1800" kern="1200">
        <a:solidFill>
          <a:schemeClr val="tx1"/>
        </a:solidFill>
        <a:latin typeface="Pretendard"/>
        <a:ea typeface="Pretendard"/>
        <a:cs typeface="Pretendard"/>
      </a:defRPr>
    </a:lvl6pPr>
    <a:lvl7pPr marL="2743200" algn="l" defTabSz="914400" rtl="0" eaLnBrk="1" latinLnBrk="0" hangingPunct="1">
      <a:defRPr sz="1800" kern="1200">
        <a:solidFill>
          <a:schemeClr val="tx1"/>
        </a:solidFill>
        <a:latin typeface="Pretendard"/>
        <a:ea typeface="Pretendard"/>
        <a:cs typeface="Pretendard"/>
      </a:defRPr>
    </a:lvl7pPr>
    <a:lvl8pPr marL="3200400" algn="l" defTabSz="914400" rtl="0" eaLnBrk="1" latinLnBrk="0" hangingPunct="1">
      <a:defRPr sz="1800" kern="1200">
        <a:solidFill>
          <a:schemeClr val="tx1"/>
        </a:solidFill>
        <a:latin typeface="Pretendard"/>
        <a:ea typeface="Pretendard"/>
        <a:cs typeface="Pretendard"/>
      </a:defRPr>
    </a:lvl8pPr>
    <a:lvl9pPr marL="3657600" algn="l" defTabSz="914400" rtl="0" eaLnBrk="1" latinLnBrk="0" hangingPunct="1">
      <a:defRPr sz="1800" kern="1200">
        <a:solidFill>
          <a:schemeClr val="tx1"/>
        </a:solidFill>
        <a:latin typeface="Pretendard"/>
        <a:ea typeface="Pretendard"/>
        <a:cs typeface="Pretendard"/>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notesMaster" Target="notesMasters/notesMaster1.xml"/><Relationship Id="rId65" Type="http://schemas.openxmlformats.org/officeDocument/2006/relationships/presProps" Target="presProps.xml"/><Relationship Id="rId66" Type="http://schemas.openxmlformats.org/officeDocument/2006/relationships/viewProps" Target="viewProps.xml"/><Relationship Id="rId67" Type="http://schemas.openxmlformats.org/officeDocument/2006/relationships/theme" Target="theme/theme1.xml"/><Relationship Id="rId6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4"/>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Pretendard"/>
        <a:ea typeface="Pretendard"/>
        <a:cs typeface="Pretendard"/>
      </a:defRPr>
    </a:lvl1pPr>
    <a:lvl2pPr marL="457200" algn="l" defTabSz="914400" rtl="0" eaLnBrk="1" latinLnBrk="0" hangingPunct="1">
      <a:defRPr sz="1200" kern="1200">
        <a:solidFill>
          <a:schemeClr val="tx1"/>
        </a:solidFill>
        <a:latin typeface="Pretendard"/>
        <a:ea typeface="Pretendard"/>
        <a:cs typeface="Pretendard"/>
      </a:defRPr>
    </a:lvl2pPr>
    <a:lvl3pPr marL="914400" algn="l" defTabSz="914400" rtl="0" eaLnBrk="1" latinLnBrk="0" hangingPunct="1">
      <a:defRPr sz="1200" kern="1200">
        <a:solidFill>
          <a:schemeClr val="tx1"/>
        </a:solidFill>
        <a:latin typeface="Pretendard"/>
        <a:ea typeface="Pretendard"/>
        <a:cs typeface="Pretendard"/>
      </a:defRPr>
    </a:lvl3pPr>
    <a:lvl4pPr marL="1371600" algn="l" defTabSz="914400" rtl="0" eaLnBrk="1" latinLnBrk="0" hangingPunct="1">
      <a:defRPr sz="1200" kern="1200">
        <a:solidFill>
          <a:schemeClr val="tx1"/>
        </a:solidFill>
        <a:latin typeface="Pretendard"/>
        <a:ea typeface="Pretendard"/>
        <a:cs typeface="Pretendard"/>
      </a:defRPr>
    </a:lvl4pPr>
    <a:lvl5pPr marL="1828800" algn="l" defTabSz="914400" rtl="0" eaLnBrk="1" latinLnBrk="0" hangingPunct="1">
      <a:defRPr sz="1200" kern="1200">
        <a:solidFill>
          <a:schemeClr val="tx1"/>
        </a:solidFill>
        <a:latin typeface="Pretendard"/>
        <a:ea typeface="Pretendard"/>
        <a:cs typeface="Pretendard"/>
      </a:defRPr>
    </a:lvl5pPr>
    <a:lvl6pPr marL="2286000" algn="l" defTabSz="914400" rtl="0" eaLnBrk="1" latinLnBrk="0" hangingPunct="1">
      <a:defRPr sz="1200" kern="1200">
        <a:solidFill>
          <a:schemeClr val="tx1"/>
        </a:solidFill>
        <a:latin typeface="Pretendard"/>
        <a:ea typeface="Pretendard"/>
        <a:cs typeface="Pretendard"/>
      </a:defRPr>
    </a:lvl6pPr>
    <a:lvl7pPr marL="2743200" algn="l" defTabSz="914400" rtl="0" eaLnBrk="1" latinLnBrk="0" hangingPunct="1">
      <a:defRPr sz="1200" kern="1200">
        <a:solidFill>
          <a:schemeClr val="tx1"/>
        </a:solidFill>
        <a:latin typeface="Pretendard"/>
        <a:ea typeface="Pretendard"/>
        <a:cs typeface="Pretendard"/>
      </a:defRPr>
    </a:lvl7pPr>
    <a:lvl8pPr marL="3200400" algn="l" defTabSz="914400" rtl="0" eaLnBrk="1" latinLnBrk="0" hangingPunct="1">
      <a:defRPr sz="1200" kern="1200">
        <a:solidFill>
          <a:schemeClr val="tx1"/>
        </a:solidFill>
        <a:latin typeface="Pretendard"/>
        <a:ea typeface="Pretendard"/>
        <a:cs typeface="Pretendard"/>
      </a:defRPr>
    </a:lvl8pPr>
    <a:lvl9pPr marL="3657600" algn="l" defTabSz="914400" rtl="0" eaLnBrk="1" latinLnBrk="0" hangingPunct="1">
      <a:defRPr sz="1200" kern="1200">
        <a:solidFill>
          <a:schemeClr val="tx1"/>
        </a:solidFill>
        <a:latin typeface="Pretendard"/>
        <a:ea typeface="Pretendard"/>
        <a:cs typeface="Pretendard"/>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내용_단쪽 제목 개체 틀, 왼쪽 세로 강조선과 목적 문구, 아래 워크플로우ID와 용어 및 팀명 배치</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DB 버전은 실제 카탈로그 근거. 전체 응답 시간은 설계 목표이며 실제 실행 성능 미검증.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내용_단쪽 흰 배경, 네이비 헤더 바 아래 번호 배지와 목차 항목을 1열로 배치</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순차: 앞 단계 출력이 다음 입력임. 분기: S-R2 내부에서 고정 조회/생성 조회 선택. 병렬 없음: 후속 작업이 앞 결과에 의존함. 반복 없음: 실패 시 이전 단계로 돌아가지 않음. Mermaid 전문은 문서 부록에 수록함.
편집 가능한 6단계 상자와 연결선. S-R2 내부 마름모와 고정/LLM 가지. 규칙은 네이비 사각형, LLM은 파란 사각형, DB는 원통, 오류는 슬레이트 선으로 구분하고 범례 제공</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S-R1 ~ S-R5의 반환 객체는 Context 1개임. 표의 추가 필드는 Context 내부 속성임. 기존 필드를 유지하며 성공 시 새 필드를 추가하고 context.error=null로 둠. 실패 시 context.error를 채워 같은 Context를 S-R6으로 전달함. S-R6은 Context를 받아 외부 Response로 변환함. 필수는 해당 단계 성공 기준이며 전체 타입은 부록 참조.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사례 문자열은 합성 테스트 입력임. 개인정보 검출 성공을 확인한 실행 증거는 아님. 개발 시 검출 규칙과 거부 사례를 자동 테스트로 고정함.
내용_단쪽 제목 개체 틀, 전체 폭 표와 연한 파랑 머리글 사용</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S-R1 ~ S-R5의 반환 객체는 Context 1개임. 표의 추가 필드는 Context 내부 속성임. 기존 필드를 유지하며 성공 시 새 필드를 추가하고 context.error=null로 둠. 실패 시 context.error를 채워 같은 Context를 S-R6으로 전달함. S-R6은 Context를 받아 외부 Response로 변환함. 필수는 해당 단계 성공 기준이며 전체 타입은 부록 참조.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S-R1 ~ S-R5의 반환 객체는 Context 1개임. 표의 추가 필드는 Context 내부 속성임. 기존 필드를 유지하며 성공 시 새 필드를 추가하고 context.error=null로 둠. 실패 시 context.error를 채워 같은 Context를 S-R6으로 전달함. S-R6은 Context를 받아 외부 Response로 변환함. 필수는 해당 단계 성공 기준이며 전체 타입은 부록 참조.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AST는 SQL을 문법 단위로 나눈 구문 트리임. 단순 금지어 검색만으로 안전성을 판정하지 않음. 사례는 구현 승인 테스트 요구사항이며 테스트 완료 증거가 아님.
내용_단쪽 제목 개체 틀, 전체 폭 표와 연한 파랑 머리글 사용</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S-R1 ~ S-R5의 반환 객체는 Context 1개임. 표의 추가 필드는 Context 내부 속성임. 기존 필드를 유지하며 성공 시 새 필드를 추가하고 context.error=null로 둠. 실패 시 context.error를 채워 같은 Context를 S-R6으로 전달함. S-R6은 Context를 받아 외부 Response로 변환함. 필수는 해당 단계 성공 기준이며 전체 타입은 부록 참조.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S-R1 ~ S-R5의 반환 객체는 Context 1개임. 표의 추가 필드는 Context 내부 속성임. 기존 필드를 유지하며 성공 시 새 필드를 추가하고 context.error=null로 둠. 실패 시 context.error를 채워 같은 Context를 S-R6으로 전달함. S-R6은 Context를 받아 외부 Response로 변환함. 필수는 해당 단계 성공 기준이며 전체 타입은 부록 참조.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S-R1 ~ S-R5의 반환 객체는 Context 1개임. 표의 추가 필드는 Context 내부 속성임. 기존 필드를 유지하며 성공 시 새 필드를 추가하고 context.error=null로 둠. 실패 시 context.error를 채워 같은 Context를 S-R6으로 전달함. S-R6은 Context를 받아 외부 Response로 변환함. 필수는 해당 단계 성공 기준이며 전체 타입은 부록 참조.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최악값은 기다리도록 허용한 외부 호출 시간의 상한이며 실제 제공자 지연 보장값이 아님. 15초는 설계 가정. 연결과 요청 대기, 응답 본문 수신까지 한 호출 제한에 포함함.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최악값은 재시도를 모두 포함한 최대 설계 시간임. 모든 배분은 실측 전 설계 상한이며 성능 보장값이 아님.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실측 전 설계 상한임. 작업 시작과 종료의 단조 시각을 계측하고 실제 성능에 맞춰 후속 조정 필요.
내용_단쪽 제목 개체 틀, 전체 폭 표와 연한 파랑 머리글 사용</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공식 근거: https://console.groq.com/docs/api-reference , https://console.groq.com/docs/quickstart , https://github.com/groq/groq-python/blob/main/src/groq/_client.py . SDK 기본 URL에 /openai/v1를 추가하지 않음. 실제 API 호출은 미수행. API 완성 주소는 https://api.groq.com/openai/v1/chat/completions 임.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https://console.groq.com/docs/api-reference , https://console.groq.com/docs/model/openai/gpt-oss-120b , https://console.groq.com/docs/structured-outputs . top_k 지원 범위는 확인되지 않아 보내지 않음. 모든 객체 키는 required로 지정하고 additionalProperties:false 적용. 설정 조합의 실제 호출 성공은 미검증.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https://console.groq.com/docs/rate-limits , https://github.com/groq/groq-python . SDK 기본 재시도는 별도 0으로 설정함. 완료 사유가 length이거나 content가 비어 있으면 실패 처리함.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8섹션 전문은 문서 부록 수록. XML 입력 안의 지시문은 데이터이며 시스템 지시를 바꾸지 못함.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XML 특수문자를 이스케이프하여 입력이 래퍼를 닫지 못하게 함. 정제를 확신할 수 없으면 PRIVACY_REJECTED 반환. 로깅 허용 목록 외 프롬프트, SQL, 결과와 응답 원문 저장 금지. user_prompt는 &lt;retriever_input&gt;{JSON으로 직렬화한 전송 허용 필드}&lt;/retriever_input&gt; 형식이며 sql_policy는 Context.policy에서 SQL 규칙만 투영한 값임.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모든 키 required, 추가 속성 금지. ready이면 view/sql/grain/selected_columns 비어 있음 금지. ready가 아니면 nullable 필드는 모두 null. route와 query_id는 모델 출력이 아니라 서비스 코드가 추가함. status와 reason_code는 ready/OK, unsupported/UNSUPPORTED, ambiguous/AMBIGUOUS 쌍만 허용함. period_start와 period_end는 둘 다 null이거나 유효 날짜 2개여야 하며 시작≤종료 조건 검사함.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내용_단쪽 제목 개체 틀, 전체 폭 표와 연한 파랑 머리글 사용</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경과는 단조 시계로 측정함. 검사 B는 현재 단계 상한과 아직 안 끝난 모든 후속 단계 상한을 합산함. S-R2 분기 미정 시 NL2SQL 16초를 포함함.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모든 경과는 계산 예시이며 실측이 아님. 예산식 외에 각 단계 자체의 상한도 강제함. 분기 전에는 보수적으로 큰 경로를 예약함.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DB 전체 8초: 풀 1, 연결 1, 세션 1, 실행 3, 수신 1, 정리 1초. 실측 전 배분이며 단계 제한과 절대 종료시각 중 먼저 도달한 제한을 적용함. 부분 행은 반환하지 않음.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기준일은 현재 날짜가 아닌 데이터 기준일임. 금액은 DB 정수 단위를 그대로 반환하며 통화코드는 별도 데이터 계약 확인 필요.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cardlab 관리자 조사임. 운영 계정의 최소 권한과 회원 격리는 별도 검증 필요. sql_retriever_user에 내부 View 2개 읽기 권한이 있으므로 공개 8개 허용 목록을 코드에서도 강제함.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월별은 date_trunc(month, coverage_start), 가맹점/일별은 실제 coverage_start를 사용하므로 월중 제공 시작일에는 동일 기간 비교가 보장되지 않음. S-R3는 범위 밖 요청을 몰래 축소하지 않고 오류 반환함. 실제 업무 데이터 분포는 미조회. 반환 period는 조회가 적용한 범위이며 모든 날짜에 실제 거래가 존재한다는 뜻이 아님. 카드별 실제 기간은 각 행의 period_start/period_end로 확인함. card_fee_usage_6m도 실제 coverage_start를 사용함. 자료상 연회비를 실제 청구액으로 표시하지 않음.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Q-08 LIMIT 20과 일반 LIMIT 200 모두 같은 완전성 규칙 적용. 전체 현실 데이터가 완전하다는 뜻은 아님.
내용_단쪽 제목 개체 틀, 전체 폭 표와 연한 파랑 머리글 사용</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뷰: app.customer_cards. 실제 카탈로그 not_null=false이므로 응답의 null 가능성을 처리함.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뷰: app.customer_cards. 실제 카탈로그 not_null=false이므로 응답의 null 가능성을 처리함.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뷰: app.customer_daily_usage. 실제 카탈로그 not_null=false이므로 응답의 null 가능성을 처리함.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뷰: app.customer_delinquency. 실제 카탈로그 not_null=false이므로 응답의 null 가능성을 처리함.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뷰: app.customer_delinquency_history. 실제 카탈로그 not_null=false이므로 응답의 null 가능성을 처리함.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뷰: app.customer_profile. 실제 카탈로그 not_null=false이므로 응답의 null 가능성을 처리함.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뷰: app.merchant_usage. 실제 카탈로그 not_null=false이므로 응답의 null 가능성을 처리함.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뷰: app.merchant_usage. 실제 카탈로그 not_null=false이므로 응답의 null 가능성을 처리함.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뷰: app.monthly_usage. 실제 카탈로그 not_null=false이므로 응답의 null 가능성을 처리함.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원본 카드 ID와 회원 ID 미포함. listed_annual_fee는 상품 안내값이며 product_effective_date와 함께 해석함.
내용_단쪽 제목 개체 틀, 전체 폭 표와 연한 파랑 머리글 사용. 컬럼명 7.2인치, DB 타입 7.7인치 폭 배치</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원본 카드 ID와 회원 ID 미포함. listed_annual_fee는 상품 안내값이며 product_effective_date와 함께 해석함.
내용_단쪽 제목 개체 틀, 전체 폭 표와 연한 파랑 머리글 사용. 컬럼명 7.2인치, DB 타입 7.7인치 폭 배치</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내용_단쪽 제목 개체 틀, 전체 폭 표와 연한 파랑 머리글 사용</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질문 의도, 기간, 필터와 집계 단위가 등록 조건과 모두 같을 때만 선택함. 고정 SQL의 문자열 치환 금지. 현재 쿼리에는 입력 매개변수가 없으며 회원과 기간은 세션 범위로 전달함. EXPLAIN은 실제 성능과 결과 정확성 검증이 아님.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의도, 기간, 결과 단위, 지표와 상태 필터 모두 대조함. Q-08의 실제 청구액, 월별 추세, 혜택 손익, 해지 권고 요청은 매칭 불가. 명시적 기간 밖 요청은 몰래 축소하지 않음.
내용_단쪽 제목 개체 틀, 전체 폭 표와 연한 파랑 머리글 사용</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2026-10-15 기존 EXPLAIN 기록을 인용함. 이번 v2 작성에서 재실행하지 않음. 업무 행과 성능 미검증. 행수가 LIMIT와 같으면 추가 행 여부 미확정임.
위쪽 SQL 상자와 아래쪽 결과 단위 및 EXPLAIN 검증 표로 구성함. SQL은 Pretendard 14pt 이상, 절별 줄바꿈 적용. 표는 밝은 파랑 머리글과 충분한 행 여백 사용</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2026-10-15 기존 EXPLAIN 기록을 인용함. 이번 v2 작성에서 재실행하지 않음. 업무 행과 성능 미검증. 행수가 LIMIT와 같으면 추가 행 여부 미확정임.
위쪽 SQL 상자와 아래쪽 결과 단위 및 EXPLAIN 검증 표로 구성함. SQL은 Pretendard 14pt 이상, 절별 줄바꿈 적용. 표는 밝은 파랑 머리글과 충분한 행 여백 사용</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2026-10-15 기존 EXPLAIN 기록을 인용함. 이번 v2 작성에서 재실행하지 않음. 업무 행과 성능 미검증. 행수가 LIMIT와 같으면 추가 행 여부 미확정임.
위쪽 SQL 상자와 아래쪽 결과 단위 및 EXPLAIN 검증 표로 구성함. SQL은 Pretendard 14pt 이상, 절별 줄바꿈 적용. 표는 밝은 파랑 머리글과 충분한 행 여백 사용</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2026-10-15 기존 EXPLAIN 기록을 인용함. 이번 v2 작성에서 재실행하지 않음. 업무 행과 성능 미검증. 행수가 LIMIT와 같으면 추가 행 여부 미확정임.
위쪽 SQL 상자와 아래쪽 결과 단위 및 EXPLAIN 검증 표로 구성함. SQL은 Pretendard 14pt 이상, 절별 줄바꿈 적용. 표는 밝은 파랑 머리글과 충분한 행 여백 사용</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2026-10-15 기존 EXPLAIN 기록을 인용함. 이번 v2 작성에서 재실행하지 않음. 업무 행과 성능 미검증. 행수가 LIMIT와 같으면 추가 행 여부 미확정임.
위쪽 SQL 상자와 아래쪽 결과 단위 및 EXPLAIN 검증 표로 구성함. SQL은 Pretendard 14pt 이상, 절별 줄바꿈 적용. 표는 밝은 파랑 머리글과 충분한 행 여백 사용</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2026-10-15 기존 EXPLAIN 기록을 인용함. 이번 v2 작성에서 재실행하지 않음. 업무 행과 성능 미검증. 행수가 LIMIT와 같으면 추가 행 여부 미확정임.
위쪽 SQL 상자와 아래쪽 결과 단위 및 EXPLAIN 검증 표로 구성함. SQL은 Pretendard 14pt 이상, 절별 줄바꿈 적용. 표는 밝은 파랑 머리글과 충분한 행 여백 사용</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2026-10-15 기존 EXPLAIN 기록을 인용함. 이번 v2 작성에서 재실행하지 않음. 업무 행과 성능 미검증. 행수가 LIMIT와 같으면 추가 행 여부 미확정임.
위쪽 SQL 상자와 아래쪽 결과 단위 및 EXPLAIN 검증 표로 구성함. SQL은 Pretendard 14pt 이상, 절별 줄바꿈 적용. 표는 밝은 파랑 머리글과 충분한 행 여백 사용</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내용_단쪽 제목 개체 틀, 전체 폭 표와 연한 파랑 머리글 사용</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AST(구문 트리)는 SQL을 문법 단위로 나눈 구조임. PostgreSQL 파서로 모든 노드를 순회하고 이름을 해석함. 선언된 컬럼과 집계식 별칭만 허용하며 문법 성공만으로 안전하다고 판단하지 않음.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허용 함수의 실제 인자형과 타입 변환은 PostgreSQL 버전별 구현 검증 대상임. 범위 밖 식이 필요하면 거부함. 크기는 UTF-8 바이트 기준. 검증 후 SQL을 덧붙이거나 바꾸지 않음. 생성 SQL에는 $1, :name, %(name)s와 같은 외부 매개변수를 허용하지 않음. 검증된 SQL 리터럴만 사용하며 코드가 값을 문자열로 이어 붙이지 않음. 세션 설정의 신뢰된 값은 별도 드라이버 바인딩 사용.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cardlab은 관리자이며 원본 테이블 권한이 존재함. 사용자 지시로 조사에 사용한 사실을 기록함. 관리자 LIMIT 0와 EXPLAIN 성공은 운영 계정 안전성 증명이 아님. 모델 SQL에서 SET/current_setting/set_config 금지. 신뢰된 코드만 세션 설정 가능. 세션 설정 예: SELECT set_config('app.member_id', $1, true), set_config('app.base_date', $2, true), set_config('app.coverage_start', $3, true). $1 ~ $3은 드라이버의 매개변수로 전달하며 사용자 SQL에 포함하지 않음. 세션 3개 중 하나라도 없으면 서비스에서 실행 거부함. SQL 역할 비밀번호 리터럴 분리와 교체는 배포 조건임.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S-R1이 Context를 만듦. 입력 오류에서도 request_id, started_at, deadline_at, error가 있는 최소 Context를 확보하여 S-R6으로 전달함. 단조 시각은 동일 프로세스 기준이며 외부 응답에 직렬화하지 않음.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날짜는 서비스 시작 시 관리되는 신뢰된 메타데이터 스냅샷을 config로 제공하는 설계임. 누락/만료/coverage_start &gt; base_date면 실행 금지. 신선도 기준은 운영 갱신 주기에 따라 확정 필요. 요청 날짜는 제공 범위 내 조건으로만 반영함.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정형 계획도 같은 Plan 구조이며 ready/OK와 등록 SQL을 코드로 채움. 기간형 조회는 실제 제공 범위를 기록함. S-R3는 규칙으로 파악한 질문 조건과 계획을 비교하고 의미 일치를 확신할 수 없으면 AMBIGUOUS_REQUEST 반환함. Plan.grain은 기본 분류값이며 세부 단위는 검사한 SELECT의 GROUP BY와 출력 컬럼을 함께 사용해 생성함. SQL과 plan.selected_columns는 이름과 순서까지 비교함. 이 표의 plan, plan_check, validated_sql, sql_fingerprint, result는 모두 Context 내부 속성임. route와 query_id는 Context.plan 내부 속성이며 오류는 Context.error에 저장함.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0행도 success와 빈 rows로 반환하며 회원 미존재로 단정하지 않음. 전체 합계는 허용 SQL 집계로 계산하고 잘린 행의 애플리케이션 합산 금지. 응답에 SQL, 원본 회원ID와 접속정보 미포함. meta의 경로와 Q-ID는 오류 발생 시 아직 없으면 null. 최소 입력 오류 응답의 날짜도 null 가능. 성공 응답은 data 값과 error=null, 실패 응답은 data=null과 error 값으로 고정함. 상한 도달을 has_more=true로 단정하지 않음. 실제 카드별 기간은 각 결과 행의 기간을 사용함.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Error는 code(string,필수), message(string,필수), stage(string,필수). stage는 단계ID만 노출함. 인증 내부 사유와 모델 출력 원문은 일반 로그에서 제외함.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429는 UPSTREAM_UNAVAILABLE로 변환하고 재시도 없음. 외부 오류에서 SQL, DB SQLSTATE, 호스트, 스키마와 테이블명, 키를 제외함.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회원 간 격리, 취소 후 풀 재사용, 프롬프트 주입 방어, 큰 입력과 결과의 종료시간을 테스트해야 함. PPT의 렌더링 검증은 별도 빌드 결과 기록에 따름.
전체 폭 표, 연한 파랑 머리글과 옅은 파랑 짝수 행으로 구성함</a:t>
            </a:r>
            <a:endParaRPr lang="en-US" dirty="0"/>
          </a:p>
        </p:txBody>
      </p:sp>
      <p:sp>
        <p:nvSpPr>
          <p:cNvPr id="4" name="Slide Number Placeholder 3"/>
          <p:cNvSpPr>
            <a:spLocks noGrp="1"/>
          </p:cNvSpPr>
          <p:nvPr>
            <p:ph type="sldNum" sz="quarter" idx="4"/>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내용_단쪽">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8406" y="868680"/>
            <a:ext cx="13613587" cy="0"/>
          </a:xfrm>
          <a:prstGeom prst="line">
            <a:avLst/>
          </a:prstGeom>
          <a:noFill/>
          <a:ln w="19050">
            <a:solidFill>
              <a:srgbClr val="E2E8F0"/>
            </a:solidFill>
            <a:prstDash val="solid"/>
          </a:ln>
        </p:spPr>
      </p:sp>
      <p:sp>
        <p:nvSpPr>
          <p:cNvPr id="3" name="Text 1"/>
          <p:cNvSpPr/>
          <p:nvPr/>
        </p:nvSpPr>
        <p:spPr>
          <a:xfrm>
            <a:off x="445770" y="7787945"/>
            <a:ext cx="1920240" cy="246888"/>
          </a:xfrm>
          <a:prstGeom prst="rect">
            <a:avLst/>
          </a:prstGeom>
          <a:noFill/>
          <a:ln/>
        </p:spPr>
        <p:txBody>
          <a:bodyPr wrap="square" lIns="0" tIns="0" rIns="0" bIns="0" rtlCol="0" anchor="ctr"/>
          <a:lstStyle/>
          <a:p>
            <a:pPr indent="0" marL="0">
              <a:buNone/>
            </a:pPr>
            <a:r>
              <a:rPr lang="en-US" sz="1400" dirty="0">
                <a:solidFill>
                  <a:srgbClr val="A6A6A6"/>
                </a:solidFill>
                <a:latin typeface="Pretendard" pitchFamily="34" charset="0"/>
                <a:ea typeface="Pretendard" pitchFamily="34" charset="-122"/>
                <a:cs typeface="Pretendard" pitchFamily="34" charset="-120"/>
              </a:rPr>
              <a:t>무단전재 및 배포 금지</a:t>
            </a:r>
            <a:endParaRPr lang="en-US" sz="1400" dirty="0"/>
          </a:p>
        </p:txBody>
      </p:sp>
      <p:sp>
        <p:nvSpPr>
          <p:cNvPr id="4" name="Text 2"/>
          <p:cNvSpPr/>
          <p:nvPr>
            <p:ph type="title" hasCustomPrompt="1"/>
          </p:nvPr>
        </p:nvSpPr>
        <p:spPr>
          <a:xfrm>
            <a:off x="509321" y="99670"/>
            <a:ext cx="13738860" cy="828446"/>
          </a:xfrm>
          <a:prstGeom prst="rect">
            <a:avLst/>
          </a:prstGeom>
          <a:noFill/>
          <a:ln/>
        </p:spPr>
        <p:txBody>
          <a:bodyPr wrap="square" rtlCol="0"/>
          <a:lstStyle>
            <a:lvl1pPr algn="l" indent="0" marL="0">
              <a:buNone/>
              <a:defRPr lang="en-US" sz="3200" b="1" dirty="0">
                <a:solidFill>
                  <a:srgbClr val="2C2926"/>
                </a:solidFill>
                <a:latin typeface="Pretendard" pitchFamily="34" charset="0"/>
                <a:ea typeface="Pretendard" pitchFamily="34" charset="-122"/>
                <a:cs typeface="Pretendard" pitchFamily="34" charset="-120"/>
              </a:defRPr>
            </a:lvl1pPr>
          </a:lstStyle>
          <a:p>
            <a:pPr algn="l" indent="0" marL="0">
              <a:buNone/>
            </a:pPr>
            <a:endParaRPr lang="en-US" sz="32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Pretendard"/>
          <a:ea typeface="Pretendard"/>
          <a:cs typeface="Pretendard"/>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Pretendard"/>
          <a:ea typeface="Pretendard"/>
          <a:cs typeface="Pretendard"/>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Pretendard"/>
          <a:ea typeface="Pretendard"/>
          <a:cs typeface="Pretendard"/>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Pretendard"/>
          <a:ea typeface="Pretendard"/>
          <a:cs typeface="Pretendard"/>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Pretendard"/>
          <a:ea typeface="Pretendard"/>
          <a:cs typeface="Pretendard"/>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Pretendard"/>
          <a:ea typeface="Pretendard"/>
          <a:cs typeface="Pretendard"/>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Pretendard"/>
          <a:ea typeface="Pretendard"/>
          <a:cs typeface="Pretendard"/>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Pretendard"/>
          <a:ea typeface="Pretendard"/>
          <a:cs typeface="Pretendard"/>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Pretendard"/>
          <a:ea typeface="Pretendard"/>
          <a:cs typeface="Pretendard"/>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Pretendard"/>
          <a:ea typeface="Pretendard"/>
          <a:cs typeface="Pretendard"/>
        </a:defRPr>
      </a:lvl9pPr>
    </p:bodyStyle>
    <p:otherStyle>
      <a:defPPr>
        <a:defRPr lang="en-US"/>
      </a:defPPr>
      <a:lvl1pPr marL="0" algn="l" defTabSz="914400" rtl="0" eaLnBrk="1" latinLnBrk="0" hangingPunct="1">
        <a:defRPr sz="1800" kern="1200">
          <a:solidFill>
            <a:schemeClr val="tx1"/>
          </a:solidFill>
          <a:latin typeface="Pretendard"/>
          <a:ea typeface="Pretendard"/>
          <a:cs typeface="Pretendard"/>
        </a:defRPr>
      </a:lvl1pPr>
      <a:lvl2pPr marL="457200" algn="l" defTabSz="914400" rtl="0" eaLnBrk="1" latinLnBrk="0" hangingPunct="1">
        <a:defRPr sz="1800" kern="1200">
          <a:solidFill>
            <a:schemeClr val="tx1"/>
          </a:solidFill>
          <a:latin typeface="Pretendard"/>
          <a:ea typeface="Pretendard"/>
          <a:cs typeface="Pretendard"/>
        </a:defRPr>
      </a:lvl2pPr>
      <a:lvl3pPr marL="914400" algn="l" defTabSz="914400" rtl="0" eaLnBrk="1" latinLnBrk="0" hangingPunct="1">
        <a:defRPr sz="1800" kern="1200">
          <a:solidFill>
            <a:schemeClr val="tx1"/>
          </a:solidFill>
          <a:latin typeface="Pretendard"/>
          <a:ea typeface="Pretendard"/>
          <a:cs typeface="Pretendard"/>
        </a:defRPr>
      </a:lvl3pPr>
      <a:lvl4pPr marL="1371600" algn="l" defTabSz="914400" rtl="0" eaLnBrk="1" latinLnBrk="0" hangingPunct="1">
        <a:defRPr sz="1800" kern="1200">
          <a:solidFill>
            <a:schemeClr val="tx1"/>
          </a:solidFill>
          <a:latin typeface="Pretendard"/>
          <a:ea typeface="Pretendard"/>
          <a:cs typeface="Pretendard"/>
        </a:defRPr>
      </a:lvl4pPr>
      <a:lvl5pPr marL="1828800" algn="l" defTabSz="914400" rtl="0" eaLnBrk="1" latinLnBrk="0" hangingPunct="1">
        <a:defRPr sz="1800" kern="1200">
          <a:solidFill>
            <a:schemeClr val="tx1"/>
          </a:solidFill>
          <a:latin typeface="Pretendard"/>
          <a:ea typeface="Pretendard"/>
          <a:cs typeface="Pretendard"/>
        </a:defRPr>
      </a:lvl5pPr>
      <a:lvl6pPr marL="2286000" algn="l" defTabSz="914400" rtl="0" eaLnBrk="1" latinLnBrk="0" hangingPunct="1">
        <a:defRPr sz="1800" kern="1200">
          <a:solidFill>
            <a:schemeClr val="tx1"/>
          </a:solidFill>
          <a:latin typeface="Pretendard"/>
          <a:ea typeface="Pretendard"/>
          <a:cs typeface="Pretendard"/>
        </a:defRPr>
      </a:lvl6pPr>
      <a:lvl7pPr marL="2743200" algn="l" defTabSz="914400" rtl="0" eaLnBrk="1" latinLnBrk="0" hangingPunct="1">
        <a:defRPr sz="1800" kern="1200">
          <a:solidFill>
            <a:schemeClr val="tx1"/>
          </a:solidFill>
          <a:latin typeface="Pretendard"/>
          <a:ea typeface="Pretendard"/>
          <a:cs typeface="Pretendard"/>
        </a:defRPr>
      </a:lvl7pPr>
      <a:lvl8pPr marL="3200400" algn="l" defTabSz="914400" rtl="0" eaLnBrk="1" latinLnBrk="0" hangingPunct="1">
        <a:defRPr sz="1800" kern="1200">
          <a:solidFill>
            <a:schemeClr val="tx1"/>
          </a:solidFill>
          <a:latin typeface="Pretendard"/>
          <a:ea typeface="Pretendard"/>
          <a:cs typeface="Pretendard"/>
        </a:defRPr>
      </a:lvl8pPr>
      <a:lvl9pPr marL="3657600" algn="l" defTabSz="914400" rtl="0" eaLnBrk="1" latinLnBrk="0" hangingPunct="1">
        <a:defRPr sz="1800" kern="1200">
          <a:solidFill>
            <a:schemeClr val="tx1"/>
          </a:solidFill>
          <a:latin typeface="Pretendard"/>
          <a:ea typeface="Pretendard"/>
          <a:cs typeface="Pretendard"/>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SQL 검색기 설계서 v2</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질문을 허용된 조회로 바꾸고, 검증한 결과만 반환하는 검색 흐름</a:t>
            </a:r>
            <a:endParaRPr lang="en-US" sz="1800" dirty="0"/>
          </a:p>
        </p:txBody>
      </p:sp>
      <p:sp>
        <p:nvSpPr>
          <p:cNvPr id="4" name="Shape 2"/>
          <p:cNvSpPr/>
          <p:nvPr/>
        </p:nvSpPr>
        <p:spPr>
          <a:xfrm>
            <a:off x="509321" y="2057400"/>
            <a:ext cx="91440" cy="5029200"/>
          </a:xfrm>
          <a:prstGeom prst="rect">
            <a:avLst/>
          </a:prstGeom>
          <a:solidFill>
            <a:srgbClr val="2E74C6"/>
          </a:solidFill>
          <a:ln/>
        </p:spPr>
      </p:sp>
      <p:sp>
        <p:nvSpPr>
          <p:cNvPr id="5" name="Text 3"/>
          <p:cNvSpPr/>
          <p:nvPr/>
        </p:nvSpPr>
        <p:spPr>
          <a:xfrm>
            <a:off x="920801" y="2331720"/>
            <a:ext cx="12710160" cy="640080"/>
          </a:xfrm>
          <a:prstGeom prst="rect">
            <a:avLst/>
          </a:prstGeom>
          <a:noFill/>
          <a:ln/>
        </p:spPr>
        <p:txBody>
          <a:bodyPr wrap="square" lIns="0" tIns="0" rIns="0" bIns="0" rtlCol="0" anchor="ctr"/>
          <a:lstStyle/>
          <a:p>
            <a:pPr indent="0" marL="0">
              <a:buNone/>
            </a:pPr>
            <a:r>
              <a:rPr lang="en-US" sz="3400" b="1" dirty="0">
                <a:solidFill>
                  <a:srgbClr val="1E2A5C"/>
                </a:solidFill>
                <a:latin typeface="Pretendard" pitchFamily="34" charset="0"/>
                <a:ea typeface="Pretendard" pitchFamily="34" charset="-122"/>
                <a:cs typeface="Pretendard" pitchFamily="34" charset="-120"/>
              </a:rPr>
              <a:t>질문에서 검증된 조회까지</a:t>
            </a:r>
            <a:endParaRPr lang="en-US" sz="3400" dirty="0"/>
          </a:p>
        </p:txBody>
      </p:sp>
      <p:sp>
        <p:nvSpPr>
          <p:cNvPr id="6" name="Text 4"/>
          <p:cNvSpPr/>
          <p:nvPr/>
        </p:nvSpPr>
        <p:spPr>
          <a:xfrm>
            <a:off x="920801" y="3429000"/>
            <a:ext cx="12710160" cy="566928"/>
          </a:xfrm>
          <a:prstGeom prst="rect">
            <a:avLst/>
          </a:prstGeom>
          <a:noFill/>
          <a:ln/>
        </p:spPr>
        <p:txBody>
          <a:bodyPr wrap="square" lIns="0" tIns="0" rIns="0" bIns="0" rtlCol="0" anchor="ctr"/>
          <a:lstStyle/>
          <a:p>
            <a:pPr indent="0" marL="0">
              <a:buNone/>
            </a:pPr>
            <a:r>
              <a:rPr lang="en-US" sz="2500" dirty="0">
                <a:solidFill>
                  <a:srgbClr val="2B3242"/>
                </a:solidFill>
                <a:latin typeface="Pretendard" pitchFamily="34" charset="0"/>
                <a:ea typeface="Pretendard" pitchFamily="34" charset="-122"/>
                <a:cs typeface="Pretendard" pitchFamily="34" charset="-120"/>
              </a:rPr>
              <a:t>W-1 SQL 검색기</a:t>
            </a:r>
            <a:endParaRPr lang="en-US" sz="2500" dirty="0"/>
          </a:p>
        </p:txBody>
      </p:sp>
      <p:sp>
        <p:nvSpPr>
          <p:cNvPr id="7" name="Text 5"/>
          <p:cNvSpPr/>
          <p:nvPr/>
        </p:nvSpPr>
        <p:spPr>
          <a:xfrm>
            <a:off x="920801" y="4453128"/>
            <a:ext cx="12710160" cy="566928"/>
          </a:xfrm>
          <a:prstGeom prst="rect">
            <a:avLst/>
          </a:prstGeom>
          <a:noFill/>
          <a:ln/>
        </p:spPr>
        <p:txBody>
          <a:bodyPr wrap="square" lIns="0" tIns="0" rIns="0" bIns="0" rtlCol="0" anchor="ctr"/>
          <a:lstStyle/>
          <a:p>
            <a:pPr indent="0" marL="0">
              <a:buNone/>
            </a:pPr>
            <a:r>
              <a:rPr lang="en-US" sz="2000" dirty="0">
                <a:solidFill>
                  <a:srgbClr val="4A5364"/>
                </a:solidFill>
                <a:latin typeface="Pretendard" pitchFamily="34" charset="0"/>
                <a:ea typeface="Pretendard" pitchFamily="34" charset="-122"/>
                <a:cs typeface="Pretendard" pitchFamily="34" charset="-120"/>
              </a:rPr>
              <a:t>정형쿼리: 미리 작성하고 확인한 SQL 조회</a:t>
            </a:r>
            <a:endParaRPr lang="en-US" sz="2000" dirty="0"/>
          </a:p>
        </p:txBody>
      </p:sp>
      <p:sp>
        <p:nvSpPr>
          <p:cNvPr id="8" name="Text 6"/>
          <p:cNvSpPr/>
          <p:nvPr/>
        </p:nvSpPr>
        <p:spPr>
          <a:xfrm>
            <a:off x="920801" y="5477256"/>
            <a:ext cx="12710160" cy="566928"/>
          </a:xfrm>
          <a:prstGeom prst="rect">
            <a:avLst/>
          </a:prstGeom>
          <a:noFill/>
          <a:ln/>
        </p:spPr>
        <p:txBody>
          <a:bodyPr wrap="square" lIns="0" tIns="0" rIns="0" bIns="0" rtlCol="0" anchor="ctr"/>
          <a:lstStyle/>
          <a:p>
            <a:pPr indent="0" marL="0">
              <a:buNone/>
            </a:pPr>
            <a:r>
              <a:rPr lang="en-US" sz="2000" dirty="0">
                <a:solidFill>
                  <a:srgbClr val="4A5364"/>
                </a:solidFill>
                <a:latin typeface="Pretendard" pitchFamily="34" charset="0"/>
                <a:ea typeface="Pretendard" pitchFamily="34" charset="-122"/>
                <a:cs typeface="Pretendard" pitchFamily="34" charset="-120"/>
              </a:rPr>
              <a:t>NL2SQL: 자연어 질문을 SQL 조회문으로 바꾸는 방식</a:t>
            </a:r>
            <a:endParaRPr lang="en-US" sz="2000" dirty="0"/>
          </a:p>
        </p:txBody>
      </p:sp>
      <p:sp>
        <p:nvSpPr>
          <p:cNvPr id="9" name="Text 7"/>
          <p:cNvSpPr/>
          <p:nvPr/>
        </p:nvSpPr>
        <p:spPr>
          <a:xfrm>
            <a:off x="920801" y="6501384"/>
            <a:ext cx="12710160" cy="566928"/>
          </a:xfrm>
          <a:prstGeom prst="rect">
            <a:avLst/>
          </a:prstGeom>
          <a:noFill/>
          <a:ln/>
        </p:spPr>
        <p:txBody>
          <a:bodyPr wrap="square" lIns="0" tIns="0" rIns="0" bIns="0" rtlCol="0" anchor="ctr"/>
          <a:lstStyle/>
          <a:p>
            <a:pPr indent="0" marL="0">
              <a:buNone/>
            </a:pPr>
            <a:r>
              <a:rPr lang="en-US" sz="2000" dirty="0">
                <a:solidFill>
                  <a:srgbClr val="4A5364"/>
                </a:solidFill>
                <a:latin typeface="Pretendard" pitchFamily="34" charset="0"/>
                <a:ea typeface="Pretendard" pitchFamily="34" charset="-122"/>
                <a:cs typeface="Pretendard" pitchFamily="34" charset="-120"/>
              </a:rPr>
              <a:t>law-consult | 승인 반영 2026-10-21</a:t>
            </a:r>
            <a:endParaRPr lang="en-US" sz="2000" dirty="0"/>
          </a:p>
        </p:txBody>
      </p:sp>
      <p:sp>
        <p:nvSpPr>
          <p:cNvPr id="10" name="Shape 8"/>
          <p:cNvSpPr/>
          <p:nvPr/>
        </p:nvSpPr>
        <p:spPr>
          <a:xfrm>
            <a:off x="509321" y="7388352"/>
            <a:ext cx="13624560" cy="0"/>
          </a:xfrm>
          <a:prstGeom prst="line">
            <a:avLst/>
          </a:prstGeom>
          <a:noFill/>
          <a:ln w="12700">
            <a:solidFill>
              <a:srgbClr val="E9ECF3"/>
            </a:solidFill>
            <a:prstDash val="solid"/>
          </a:ln>
        </p:spPr>
      </p:sp>
      <p:sp>
        <p:nvSpPr>
          <p:cNvPr id="11" name="Text 9"/>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원본 2026-10-15 / 승인 개선안 2026-10-21</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설계 개요</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동기 요청 1건을 6단계로 처리하고, 시스템 내부 DB에서 결과를 얻는 구조</a:t>
            </a:r>
            <a:endParaRPr lang="en-US" sz="1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59436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항목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설계값</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설계 대상</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상담사 질문 → 정형쿼리 또는 NL2SQL → 검증된 조회 결과</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유저스토리</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별도 파일 없음. 기본 6단계 워크플로우 사용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시작 트리거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동기 요청: 호출자가 검색을 요청하고 응답을 기다림</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설계 범위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요청 검증, 경로 선택, 계획 판정, SQL 검증, 실행, 응답</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제외 범위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데이터 변경, 문서 검색, 다중 뷰 결합, 대화 답변 생성</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DB 취급</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PostgreSQL 18.6, 시스템 내부 구성요소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시간 예산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전체 30초. 정형 경로 14초, NL2SQL 경로 29초의 설계 상한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필드 표기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필드명(타입, 필수/선택, 설명). Context는 누적 내부 상태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설계 결정 기록,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목차</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흐름부터 실행 규칙과 검증 근거까지 구현 순서로 구성함</a:t>
            </a:r>
            <a:endParaRPr lang="en-US" sz="1800" dirty="0"/>
          </a:p>
        </p:txBody>
      </p:sp>
      <p:sp>
        <p:nvSpPr>
          <p:cNvPr id="4" name="Shape 2"/>
          <p:cNvSpPr/>
          <p:nvPr/>
        </p:nvSpPr>
        <p:spPr>
          <a:xfrm>
            <a:off x="509321" y="1737360"/>
            <a:ext cx="13624560" cy="457200"/>
          </a:xfrm>
          <a:prstGeom prst="roundRect">
            <a:avLst>
              <a:gd name="adj" fmla="val 12000"/>
            </a:avLst>
          </a:prstGeom>
          <a:solidFill>
            <a:srgbClr val="1E2A5C"/>
          </a:solidFill>
          <a:ln/>
        </p:spPr>
      </p:sp>
      <p:sp>
        <p:nvSpPr>
          <p:cNvPr id="5" name="Text 3"/>
          <p:cNvSpPr/>
          <p:nvPr/>
        </p:nvSpPr>
        <p:spPr>
          <a:xfrm>
            <a:off x="509321" y="1737360"/>
            <a:ext cx="13624560" cy="457200"/>
          </a:xfrm>
          <a:prstGeom prst="rect">
            <a:avLst/>
          </a:prstGeom>
          <a:noFill/>
          <a:ln/>
        </p:spPr>
        <p:txBody>
          <a:bodyPr wrap="square" lIns="0" tIns="0" rIns="0" bIns="0" rtlCol="0" anchor="ctr"/>
          <a:lstStyle/>
          <a:p>
            <a:pPr algn="ctr" indent="0" marL="0">
              <a:buNone/>
            </a:pPr>
            <a:r>
              <a:rPr lang="en-US" sz="2400" b="1" dirty="0">
                <a:solidFill>
                  <a:srgbClr val="FFFFFF"/>
                </a:solidFill>
                <a:latin typeface="Pretendard" pitchFamily="34" charset="0"/>
                <a:ea typeface="Pretendard" pitchFamily="34" charset="-122"/>
                <a:cs typeface="Pretendard" pitchFamily="34" charset="-120"/>
              </a:rPr>
              <a:t>설계 기준</a:t>
            </a:r>
            <a:endParaRPr lang="en-US" sz="2400" dirty="0"/>
          </a:p>
        </p:txBody>
      </p:sp>
      <p:sp>
        <p:nvSpPr>
          <p:cNvPr id="6" name="Shape 4"/>
          <p:cNvSpPr/>
          <p:nvPr/>
        </p:nvSpPr>
        <p:spPr>
          <a:xfrm>
            <a:off x="509321" y="2478024"/>
            <a:ext cx="384048" cy="384048"/>
          </a:xfrm>
          <a:prstGeom prst="roundRect">
            <a:avLst>
              <a:gd name="adj" fmla="val 11905"/>
            </a:avLst>
          </a:prstGeom>
          <a:solidFill>
            <a:srgbClr val="2E74C6"/>
          </a:solidFill>
          <a:ln/>
        </p:spPr>
      </p:sp>
      <p:sp>
        <p:nvSpPr>
          <p:cNvPr id="7" name="Text 5"/>
          <p:cNvSpPr/>
          <p:nvPr/>
        </p:nvSpPr>
        <p:spPr>
          <a:xfrm>
            <a:off x="509321" y="2478024"/>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1</a:t>
            </a:r>
            <a:endParaRPr lang="en-US" sz="1800" dirty="0"/>
          </a:p>
        </p:txBody>
      </p:sp>
      <p:sp>
        <p:nvSpPr>
          <p:cNvPr id="8" name="Text 6"/>
          <p:cNvSpPr/>
          <p:nvPr/>
        </p:nvSpPr>
        <p:spPr>
          <a:xfrm>
            <a:off x="1149401" y="2423160"/>
            <a:ext cx="12893040" cy="859536"/>
          </a:xfrm>
          <a:prstGeom prst="rect">
            <a:avLst/>
          </a:prstGeom>
          <a:noFill/>
          <a:ln/>
        </p:spPr>
        <p:txBody>
          <a:bodyPr wrap="square" lIns="0" tIns="0" rIns="0" bIns="0" rtlCol="0" anchor="t"/>
          <a:lstStyle/>
          <a:p>
            <a:pPr indent="0" marL="0">
              <a:buNone/>
            </a:pPr>
            <a:r>
              <a:rPr lang="en-US" sz="2200" dirty="0">
                <a:solidFill>
                  <a:srgbClr val="2B3242"/>
                </a:solidFill>
                <a:latin typeface="Pretendard" pitchFamily="34" charset="0"/>
                <a:ea typeface="Pretendard" pitchFamily="34" charset="-122"/>
                <a:cs typeface="Pretendard" pitchFamily="34" charset="-120"/>
              </a:rPr>
              <a:t>① 단계 도출과 흐름 | ② 단계별 명세</a:t>
            </a:r>
            <a:endParaRPr lang="en-US" sz="2200" dirty="0"/>
          </a:p>
        </p:txBody>
      </p:sp>
      <p:sp>
        <p:nvSpPr>
          <p:cNvPr id="9" name="Shape 7"/>
          <p:cNvSpPr/>
          <p:nvPr/>
        </p:nvSpPr>
        <p:spPr>
          <a:xfrm>
            <a:off x="1149401" y="3328416"/>
            <a:ext cx="12893040" cy="0"/>
          </a:xfrm>
          <a:prstGeom prst="line">
            <a:avLst/>
          </a:prstGeom>
          <a:noFill/>
          <a:ln w="12700">
            <a:solidFill>
              <a:srgbClr val="EDF0F6"/>
            </a:solidFill>
            <a:prstDash val="solid"/>
          </a:ln>
        </p:spPr>
      </p:sp>
      <p:sp>
        <p:nvSpPr>
          <p:cNvPr id="10" name="Shape 8"/>
          <p:cNvSpPr/>
          <p:nvPr/>
        </p:nvSpPr>
        <p:spPr>
          <a:xfrm>
            <a:off x="509321" y="3410712"/>
            <a:ext cx="384048" cy="384048"/>
          </a:xfrm>
          <a:prstGeom prst="roundRect">
            <a:avLst>
              <a:gd name="adj" fmla="val 11905"/>
            </a:avLst>
          </a:prstGeom>
          <a:solidFill>
            <a:srgbClr val="2E74C6"/>
          </a:solidFill>
          <a:ln/>
        </p:spPr>
      </p:sp>
      <p:sp>
        <p:nvSpPr>
          <p:cNvPr id="11" name="Text 9"/>
          <p:cNvSpPr/>
          <p:nvPr/>
        </p:nvSpPr>
        <p:spPr>
          <a:xfrm>
            <a:off x="509321" y="3410712"/>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2</a:t>
            </a:r>
            <a:endParaRPr lang="en-US" sz="1800" dirty="0"/>
          </a:p>
        </p:txBody>
      </p:sp>
      <p:sp>
        <p:nvSpPr>
          <p:cNvPr id="12" name="Text 10"/>
          <p:cNvSpPr/>
          <p:nvPr/>
        </p:nvSpPr>
        <p:spPr>
          <a:xfrm>
            <a:off x="1149401" y="3355848"/>
            <a:ext cx="12893040" cy="859536"/>
          </a:xfrm>
          <a:prstGeom prst="rect">
            <a:avLst/>
          </a:prstGeom>
          <a:noFill/>
          <a:ln/>
        </p:spPr>
        <p:txBody>
          <a:bodyPr wrap="square" lIns="0" tIns="0" rIns="0" bIns="0" rtlCol="0" anchor="t"/>
          <a:lstStyle/>
          <a:p>
            <a:pPr indent="0" marL="0">
              <a:buNone/>
            </a:pPr>
            <a:r>
              <a:rPr lang="en-US" sz="2200" dirty="0">
                <a:solidFill>
                  <a:srgbClr val="2B3242"/>
                </a:solidFill>
                <a:latin typeface="Pretendard" pitchFamily="34" charset="0"/>
                <a:ea typeface="Pretendard" pitchFamily="34" charset="-122"/>
                <a:cs typeface="Pretendard" pitchFamily="34" charset="-120"/>
              </a:rPr>
              <a:t>③ 외부시스템 연동 | ④ 반복 구간</a:t>
            </a:r>
            <a:endParaRPr lang="en-US" sz="2200" dirty="0"/>
          </a:p>
        </p:txBody>
      </p:sp>
      <p:sp>
        <p:nvSpPr>
          <p:cNvPr id="13" name="Shape 11"/>
          <p:cNvSpPr/>
          <p:nvPr/>
        </p:nvSpPr>
        <p:spPr>
          <a:xfrm>
            <a:off x="1149401" y="4261104"/>
            <a:ext cx="12893040" cy="0"/>
          </a:xfrm>
          <a:prstGeom prst="line">
            <a:avLst/>
          </a:prstGeom>
          <a:noFill/>
          <a:ln w="12700">
            <a:solidFill>
              <a:srgbClr val="EDF0F6"/>
            </a:solidFill>
            <a:prstDash val="solid"/>
          </a:ln>
        </p:spPr>
      </p:sp>
      <p:sp>
        <p:nvSpPr>
          <p:cNvPr id="14" name="Shape 12"/>
          <p:cNvSpPr/>
          <p:nvPr/>
        </p:nvSpPr>
        <p:spPr>
          <a:xfrm>
            <a:off x="509321" y="4343400"/>
            <a:ext cx="384048" cy="384048"/>
          </a:xfrm>
          <a:prstGeom prst="roundRect">
            <a:avLst>
              <a:gd name="adj" fmla="val 11905"/>
            </a:avLst>
          </a:prstGeom>
          <a:solidFill>
            <a:srgbClr val="2E74C6"/>
          </a:solidFill>
          <a:ln/>
        </p:spPr>
      </p:sp>
      <p:sp>
        <p:nvSpPr>
          <p:cNvPr id="15" name="Text 13"/>
          <p:cNvSpPr/>
          <p:nvPr/>
        </p:nvSpPr>
        <p:spPr>
          <a:xfrm>
            <a:off x="509321" y="4343400"/>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3</a:t>
            </a:r>
            <a:endParaRPr lang="en-US" sz="1800" dirty="0"/>
          </a:p>
        </p:txBody>
      </p:sp>
      <p:sp>
        <p:nvSpPr>
          <p:cNvPr id="16" name="Text 14"/>
          <p:cNvSpPr/>
          <p:nvPr/>
        </p:nvSpPr>
        <p:spPr>
          <a:xfrm>
            <a:off x="1149401" y="4288536"/>
            <a:ext cx="12893040" cy="859536"/>
          </a:xfrm>
          <a:prstGeom prst="rect">
            <a:avLst/>
          </a:prstGeom>
          <a:noFill/>
          <a:ln/>
        </p:spPr>
        <p:txBody>
          <a:bodyPr wrap="square" lIns="0" tIns="0" rIns="0" bIns="0" rtlCol="0" anchor="t"/>
          <a:lstStyle/>
          <a:p>
            <a:pPr indent="0" marL="0">
              <a:buNone/>
            </a:pPr>
            <a:r>
              <a:rPr lang="en-US" sz="2200" dirty="0">
                <a:solidFill>
                  <a:srgbClr val="2B3242"/>
                </a:solidFill>
                <a:latin typeface="Pretendard" pitchFamily="34" charset="0"/>
                <a:ea typeface="Pretendard" pitchFamily="34" charset="-122"/>
                <a:cs typeface="Pretendard" pitchFamily="34" charset="-120"/>
              </a:rPr>
              <a:t>⑤ 워크플로우와 시간 예산 | 커넥터 설계</a:t>
            </a:r>
            <a:endParaRPr lang="en-US" sz="2200" dirty="0"/>
          </a:p>
        </p:txBody>
      </p:sp>
      <p:sp>
        <p:nvSpPr>
          <p:cNvPr id="17" name="Shape 15"/>
          <p:cNvSpPr/>
          <p:nvPr/>
        </p:nvSpPr>
        <p:spPr>
          <a:xfrm>
            <a:off x="1149401" y="5193792"/>
            <a:ext cx="12893040" cy="0"/>
          </a:xfrm>
          <a:prstGeom prst="line">
            <a:avLst/>
          </a:prstGeom>
          <a:noFill/>
          <a:ln w="12700">
            <a:solidFill>
              <a:srgbClr val="EDF0F6"/>
            </a:solidFill>
            <a:prstDash val="solid"/>
          </a:ln>
        </p:spPr>
      </p:sp>
      <p:sp>
        <p:nvSpPr>
          <p:cNvPr id="18" name="Shape 16"/>
          <p:cNvSpPr/>
          <p:nvPr/>
        </p:nvSpPr>
        <p:spPr>
          <a:xfrm>
            <a:off x="509321" y="5276088"/>
            <a:ext cx="384048" cy="384048"/>
          </a:xfrm>
          <a:prstGeom prst="roundRect">
            <a:avLst>
              <a:gd name="adj" fmla="val 11905"/>
            </a:avLst>
          </a:prstGeom>
          <a:solidFill>
            <a:srgbClr val="2E74C6"/>
          </a:solidFill>
          <a:ln/>
        </p:spPr>
      </p:sp>
      <p:sp>
        <p:nvSpPr>
          <p:cNvPr id="19" name="Text 17"/>
          <p:cNvSpPr/>
          <p:nvPr/>
        </p:nvSpPr>
        <p:spPr>
          <a:xfrm>
            <a:off x="509321" y="5276088"/>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4</a:t>
            </a:r>
            <a:endParaRPr lang="en-US" sz="1800" dirty="0"/>
          </a:p>
        </p:txBody>
      </p:sp>
      <p:sp>
        <p:nvSpPr>
          <p:cNvPr id="20" name="Text 18"/>
          <p:cNvSpPr/>
          <p:nvPr/>
        </p:nvSpPr>
        <p:spPr>
          <a:xfrm>
            <a:off x="1149401" y="5221224"/>
            <a:ext cx="12893040" cy="859536"/>
          </a:xfrm>
          <a:prstGeom prst="rect">
            <a:avLst/>
          </a:prstGeom>
          <a:noFill/>
          <a:ln/>
        </p:spPr>
        <p:txBody>
          <a:bodyPr wrap="square" lIns="0" tIns="0" rIns="0" bIns="0" rtlCol="0" anchor="t"/>
          <a:lstStyle/>
          <a:p>
            <a:pPr indent="0" marL="0">
              <a:buNone/>
            </a:pPr>
            <a:r>
              <a:rPr lang="en-US" sz="2200" dirty="0">
                <a:solidFill>
                  <a:srgbClr val="2B3242"/>
                </a:solidFill>
                <a:latin typeface="Pretendard" pitchFamily="34" charset="0"/>
                <a:ea typeface="Pretendard" pitchFamily="34" charset="-122"/>
                <a:cs typeface="Pretendard" pitchFamily="34" charset="-120"/>
              </a:rPr>
              <a:t>⑥ 남은 시간 예산 정책</a:t>
            </a:r>
            <a:endParaRPr lang="en-US" sz="2200" dirty="0"/>
          </a:p>
        </p:txBody>
      </p:sp>
      <p:sp>
        <p:nvSpPr>
          <p:cNvPr id="21" name="Shape 19"/>
          <p:cNvSpPr/>
          <p:nvPr/>
        </p:nvSpPr>
        <p:spPr>
          <a:xfrm>
            <a:off x="1149401" y="6126480"/>
            <a:ext cx="12893040" cy="0"/>
          </a:xfrm>
          <a:prstGeom prst="line">
            <a:avLst/>
          </a:prstGeom>
          <a:noFill/>
          <a:ln w="12700">
            <a:solidFill>
              <a:srgbClr val="EDF0F6"/>
            </a:solidFill>
            <a:prstDash val="solid"/>
          </a:ln>
        </p:spPr>
      </p:sp>
      <p:sp>
        <p:nvSpPr>
          <p:cNvPr id="22" name="Shape 20"/>
          <p:cNvSpPr/>
          <p:nvPr/>
        </p:nvSpPr>
        <p:spPr>
          <a:xfrm>
            <a:off x="509321" y="6208776"/>
            <a:ext cx="384048" cy="384048"/>
          </a:xfrm>
          <a:prstGeom prst="roundRect">
            <a:avLst>
              <a:gd name="adj" fmla="val 11905"/>
            </a:avLst>
          </a:prstGeom>
          <a:solidFill>
            <a:srgbClr val="2E74C6"/>
          </a:solidFill>
          <a:ln/>
        </p:spPr>
      </p:sp>
      <p:sp>
        <p:nvSpPr>
          <p:cNvPr id="23" name="Text 21"/>
          <p:cNvSpPr/>
          <p:nvPr/>
        </p:nvSpPr>
        <p:spPr>
          <a:xfrm>
            <a:off x="509321" y="6208776"/>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5</a:t>
            </a:r>
            <a:endParaRPr lang="en-US" sz="1800" dirty="0"/>
          </a:p>
        </p:txBody>
      </p:sp>
      <p:sp>
        <p:nvSpPr>
          <p:cNvPr id="24" name="Text 22"/>
          <p:cNvSpPr/>
          <p:nvPr/>
        </p:nvSpPr>
        <p:spPr>
          <a:xfrm>
            <a:off x="1149401" y="6153912"/>
            <a:ext cx="12893040" cy="859536"/>
          </a:xfrm>
          <a:prstGeom prst="rect">
            <a:avLst/>
          </a:prstGeom>
          <a:noFill/>
          <a:ln/>
        </p:spPr>
        <p:txBody>
          <a:bodyPr wrap="square" lIns="0" tIns="0" rIns="0" bIns="0" rtlCol="0" anchor="t"/>
          <a:lstStyle/>
          <a:p>
            <a:pPr indent="0" marL="0">
              <a:buNone/>
            </a:pPr>
            <a:r>
              <a:rPr lang="en-US" sz="2200" dirty="0">
                <a:solidFill>
                  <a:srgbClr val="2B3242"/>
                </a:solidFill>
                <a:latin typeface="Pretendard" pitchFamily="34" charset="0"/>
                <a:ea typeface="Pretendard" pitchFamily="34" charset="-122"/>
                <a:cs typeface="Pretendard" pitchFamily="34" charset="-120"/>
              </a:rPr>
              <a:t>부록: 뷰, 정형 SQL, SQL 규칙, 필드 사전, 오류, 점검표</a:t>
            </a:r>
            <a:endParaRPr lang="en-US" sz="2200" dirty="0"/>
          </a:p>
        </p:txBody>
      </p:sp>
      <p:sp>
        <p:nvSpPr>
          <p:cNvPr id="25" name="Shape 23"/>
          <p:cNvSpPr/>
          <p:nvPr/>
        </p:nvSpPr>
        <p:spPr>
          <a:xfrm>
            <a:off x="509321" y="7388352"/>
            <a:ext cx="13624560" cy="0"/>
          </a:xfrm>
          <a:prstGeom prst="line">
            <a:avLst/>
          </a:prstGeom>
          <a:noFill/>
          <a:ln w="12700">
            <a:solidFill>
              <a:srgbClr val="E9ECF3"/>
            </a:solidFill>
            <a:prstDash val="solid"/>
          </a:ln>
        </p:spPr>
      </p:sp>
      <p:sp>
        <p:nvSpPr>
          <p:cNvPr id="26" name="Text 24"/>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설계 결정 기록,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① 단계 도출과 순서</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순차 처리 중 S-R2에서 고정 조회와 LLM 경로 중 하나를 선택함</a:t>
            </a:r>
            <a:endParaRPr lang="en-US" sz="1800" dirty="0"/>
          </a:p>
        </p:txBody>
      </p:sp>
      <p:sp>
        <p:nvSpPr>
          <p:cNvPr id="4" name="Shape 2"/>
          <p:cNvSpPr/>
          <p:nvPr/>
        </p:nvSpPr>
        <p:spPr>
          <a:xfrm>
            <a:off x="509321" y="3337560"/>
            <a:ext cx="1554480" cy="1024128"/>
          </a:xfrm>
          <a:prstGeom prst="roundRect">
            <a:avLst>
              <a:gd name="adj" fmla="val 5357"/>
            </a:avLst>
          </a:prstGeom>
          <a:solidFill>
            <a:srgbClr val="1E2A5C"/>
          </a:solidFill>
          <a:ln w="12700">
            <a:solidFill>
              <a:srgbClr val="1E2A5C"/>
            </a:solidFill>
            <a:prstDash val="solid"/>
          </a:ln>
        </p:spPr>
      </p:sp>
      <p:sp>
        <p:nvSpPr>
          <p:cNvPr id="5" name="Text 3"/>
          <p:cNvSpPr/>
          <p:nvPr/>
        </p:nvSpPr>
        <p:spPr>
          <a:xfrm>
            <a:off x="573329" y="3429000"/>
            <a:ext cx="1426464" cy="841248"/>
          </a:xfrm>
          <a:prstGeom prst="rect">
            <a:avLst/>
          </a:prstGeom>
          <a:noFill/>
          <a:ln/>
        </p:spPr>
        <p:txBody>
          <a:bodyPr wrap="square" lIns="0" tIns="0" rIns="0" bIns="0"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S-R1</a:t>
            </a:r>
            <a:endParaRPr lang="en-US" sz="1600" dirty="0"/>
          </a:p>
          <a:p>
            <a:pPr algn="ctr" indent="0" marL="0">
              <a:buNone/>
            </a:pPr>
            <a:r>
              <a:rPr lang="en-US" sz="1600" b="1" dirty="0">
                <a:solidFill>
                  <a:srgbClr val="FFFFFF"/>
                </a:solidFill>
                <a:latin typeface="Pretendard" pitchFamily="34" charset="0"/>
                <a:ea typeface="Pretendard" pitchFamily="34" charset="-122"/>
                <a:cs typeface="Pretendard" pitchFamily="34" charset="-120"/>
              </a:rPr>
              <a:t>요청 접수와 검증</a:t>
            </a:r>
            <a:endParaRPr lang="en-US" sz="1600" dirty="0"/>
          </a:p>
        </p:txBody>
      </p:sp>
      <p:sp>
        <p:nvSpPr>
          <p:cNvPr id="6" name="Shape 4"/>
          <p:cNvSpPr/>
          <p:nvPr/>
        </p:nvSpPr>
        <p:spPr>
          <a:xfrm>
            <a:off x="2432304" y="3337560"/>
            <a:ext cx="1554480" cy="1024128"/>
          </a:xfrm>
          <a:prstGeom prst="diamond">
            <a:avLst/>
          </a:prstGeom>
          <a:solidFill>
            <a:srgbClr val="1E2A5C"/>
          </a:solidFill>
          <a:ln w="12700">
            <a:solidFill>
              <a:srgbClr val="1E2A5C"/>
            </a:solidFill>
            <a:prstDash val="solid"/>
          </a:ln>
        </p:spPr>
      </p:sp>
      <p:sp>
        <p:nvSpPr>
          <p:cNvPr id="7" name="Text 5"/>
          <p:cNvSpPr/>
          <p:nvPr/>
        </p:nvSpPr>
        <p:spPr>
          <a:xfrm>
            <a:off x="2496312" y="3429000"/>
            <a:ext cx="1426464" cy="841248"/>
          </a:xfrm>
          <a:prstGeom prst="rect">
            <a:avLst/>
          </a:prstGeom>
          <a:noFill/>
          <a:ln/>
        </p:spPr>
        <p:txBody>
          <a:bodyPr wrap="square" lIns="0" tIns="0" rIns="0" bIns="0"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S-R2</a:t>
            </a:r>
            <a:endParaRPr lang="en-US" sz="1600" dirty="0"/>
          </a:p>
          <a:p>
            <a:pPr algn="ctr" indent="0" marL="0">
              <a:buNone/>
            </a:pPr>
            <a:r>
              <a:rPr lang="en-US" sz="1600" b="1" dirty="0">
                <a:solidFill>
                  <a:srgbClr val="FFFFFF"/>
                </a:solidFill>
                <a:latin typeface="Pretendard" pitchFamily="34" charset="0"/>
                <a:ea typeface="Pretendard" pitchFamily="34" charset="-122"/>
                <a:cs typeface="Pretendard" pitchFamily="34" charset="-120"/>
              </a:rPr>
              <a:t>조회 경로 선택</a:t>
            </a:r>
            <a:endParaRPr lang="en-US" sz="1600" dirty="0"/>
          </a:p>
        </p:txBody>
      </p:sp>
      <p:sp>
        <p:nvSpPr>
          <p:cNvPr id="8" name="Shape 6"/>
          <p:cNvSpPr/>
          <p:nvPr/>
        </p:nvSpPr>
        <p:spPr>
          <a:xfrm>
            <a:off x="4352544" y="2377440"/>
            <a:ext cx="1737360" cy="914400"/>
          </a:xfrm>
          <a:prstGeom prst="roundRect">
            <a:avLst>
              <a:gd name="adj" fmla="val 6000"/>
            </a:avLst>
          </a:prstGeom>
          <a:solidFill>
            <a:srgbClr val="1E2A5C"/>
          </a:solidFill>
          <a:ln w="12700">
            <a:solidFill>
              <a:srgbClr val="1E2A5C"/>
            </a:solidFill>
            <a:prstDash val="solid"/>
          </a:ln>
        </p:spPr>
      </p:sp>
      <p:sp>
        <p:nvSpPr>
          <p:cNvPr id="9" name="Text 7"/>
          <p:cNvSpPr/>
          <p:nvPr/>
        </p:nvSpPr>
        <p:spPr>
          <a:xfrm>
            <a:off x="4416552" y="2468880"/>
            <a:ext cx="1609344" cy="731520"/>
          </a:xfrm>
          <a:prstGeom prst="rect">
            <a:avLst/>
          </a:prstGeom>
          <a:noFill/>
          <a:ln/>
        </p:spPr>
        <p:txBody>
          <a:bodyPr wrap="square" lIns="0" tIns="0" rIns="0" bIns="0"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고정 Q-ID와</a:t>
            </a:r>
            <a:endParaRPr lang="en-US" sz="1600" dirty="0"/>
          </a:p>
          <a:p>
            <a:pPr algn="ctr" indent="0" marL="0">
              <a:buNone/>
            </a:pPr>
            <a:r>
              <a:rPr lang="en-US" sz="1600" b="1" dirty="0">
                <a:solidFill>
                  <a:srgbClr val="FFFFFF"/>
                </a:solidFill>
                <a:latin typeface="Pretendard" pitchFamily="34" charset="0"/>
                <a:ea typeface="Pretendard" pitchFamily="34" charset="-122"/>
                <a:cs typeface="Pretendard" pitchFamily="34" charset="-120"/>
              </a:rPr>
              <a:t>SQL 선택</a:t>
            </a:r>
            <a:endParaRPr lang="en-US" sz="1600" dirty="0"/>
          </a:p>
        </p:txBody>
      </p:sp>
      <p:sp>
        <p:nvSpPr>
          <p:cNvPr id="10" name="Shape 8"/>
          <p:cNvSpPr/>
          <p:nvPr/>
        </p:nvSpPr>
        <p:spPr>
          <a:xfrm>
            <a:off x="4352544" y="4407408"/>
            <a:ext cx="1737360" cy="914400"/>
          </a:xfrm>
          <a:prstGeom prst="roundRect">
            <a:avLst>
              <a:gd name="adj" fmla="val 6000"/>
            </a:avLst>
          </a:prstGeom>
          <a:solidFill>
            <a:srgbClr val="2E74C6"/>
          </a:solidFill>
          <a:ln w="12700">
            <a:solidFill>
              <a:srgbClr val="2E74C6"/>
            </a:solidFill>
            <a:prstDash val="solid"/>
          </a:ln>
        </p:spPr>
      </p:sp>
      <p:sp>
        <p:nvSpPr>
          <p:cNvPr id="11" name="Text 9"/>
          <p:cNvSpPr/>
          <p:nvPr/>
        </p:nvSpPr>
        <p:spPr>
          <a:xfrm>
            <a:off x="4416552" y="4498848"/>
            <a:ext cx="1609344" cy="731520"/>
          </a:xfrm>
          <a:prstGeom prst="rect">
            <a:avLst/>
          </a:prstGeom>
          <a:noFill/>
          <a:ln/>
        </p:spPr>
        <p:txBody>
          <a:bodyPr wrap="square" lIns="0" tIns="0" rIns="0" bIns="0"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Groq SQL 생성</a:t>
            </a:r>
            <a:endParaRPr lang="en-US" sz="1600" dirty="0"/>
          </a:p>
          <a:p>
            <a:pPr algn="ctr" indent="0" marL="0">
              <a:buNone/>
            </a:pPr>
            <a:r>
              <a:rPr lang="en-US" sz="1600" b="1" dirty="0">
                <a:solidFill>
                  <a:srgbClr val="FFFFFF"/>
                </a:solidFill>
                <a:latin typeface="Pretendard" pitchFamily="34" charset="0"/>
                <a:ea typeface="Pretendard" pitchFamily="34" charset="-122"/>
                <a:cs typeface="Pretendard" pitchFamily="34" charset="-120"/>
              </a:rPr>
              <a:t>최대 1회</a:t>
            </a:r>
            <a:endParaRPr lang="en-US" sz="1600" dirty="0"/>
          </a:p>
        </p:txBody>
      </p:sp>
      <p:sp>
        <p:nvSpPr>
          <p:cNvPr id="12" name="Shape 10"/>
          <p:cNvSpPr/>
          <p:nvPr/>
        </p:nvSpPr>
        <p:spPr>
          <a:xfrm>
            <a:off x="6428232" y="3337560"/>
            <a:ext cx="1554480" cy="1024128"/>
          </a:xfrm>
          <a:prstGeom prst="roundRect">
            <a:avLst>
              <a:gd name="adj" fmla="val 5357"/>
            </a:avLst>
          </a:prstGeom>
          <a:solidFill>
            <a:srgbClr val="1E2A5C"/>
          </a:solidFill>
          <a:ln w="12700">
            <a:solidFill>
              <a:srgbClr val="1E2A5C"/>
            </a:solidFill>
            <a:prstDash val="solid"/>
          </a:ln>
        </p:spPr>
      </p:sp>
      <p:sp>
        <p:nvSpPr>
          <p:cNvPr id="13" name="Text 11"/>
          <p:cNvSpPr/>
          <p:nvPr/>
        </p:nvSpPr>
        <p:spPr>
          <a:xfrm>
            <a:off x="6492240" y="3429000"/>
            <a:ext cx="1426464" cy="841248"/>
          </a:xfrm>
          <a:prstGeom prst="rect">
            <a:avLst/>
          </a:prstGeom>
          <a:noFill/>
          <a:ln/>
        </p:spPr>
        <p:txBody>
          <a:bodyPr wrap="square" lIns="0" tIns="0" rIns="0" bIns="0"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S-R3</a:t>
            </a:r>
            <a:endParaRPr lang="en-US" sz="1600" dirty="0"/>
          </a:p>
          <a:p>
            <a:pPr algn="ctr" indent="0" marL="0">
              <a:buNone/>
            </a:pPr>
            <a:r>
              <a:rPr lang="en-US" sz="1600" b="1" dirty="0">
                <a:solidFill>
                  <a:srgbClr val="FFFFFF"/>
                </a:solidFill>
                <a:latin typeface="Pretendard" pitchFamily="34" charset="0"/>
                <a:ea typeface="Pretendard" pitchFamily="34" charset="-122"/>
                <a:cs typeface="Pretendard" pitchFamily="34" charset="-120"/>
              </a:rPr>
              <a:t>계획 적합성</a:t>
            </a:r>
            <a:endParaRPr lang="en-US" sz="1600" dirty="0"/>
          </a:p>
        </p:txBody>
      </p:sp>
      <p:sp>
        <p:nvSpPr>
          <p:cNvPr id="14" name="Shape 12"/>
          <p:cNvSpPr/>
          <p:nvPr/>
        </p:nvSpPr>
        <p:spPr>
          <a:xfrm>
            <a:off x="8348472" y="3337560"/>
            <a:ext cx="1554480" cy="1024128"/>
          </a:xfrm>
          <a:prstGeom prst="roundRect">
            <a:avLst>
              <a:gd name="adj" fmla="val 5357"/>
            </a:avLst>
          </a:prstGeom>
          <a:solidFill>
            <a:srgbClr val="1E2A5C"/>
          </a:solidFill>
          <a:ln w="12700">
            <a:solidFill>
              <a:srgbClr val="1E2A5C"/>
            </a:solidFill>
            <a:prstDash val="solid"/>
          </a:ln>
        </p:spPr>
      </p:sp>
      <p:sp>
        <p:nvSpPr>
          <p:cNvPr id="15" name="Text 13"/>
          <p:cNvSpPr/>
          <p:nvPr/>
        </p:nvSpPr>
        <p:spPr>
          <a:xfrm>
            <a:off x="8412480" y="3429000"/>
            <a:ext cx="1426464" cy="841248"/>
          </a:xfrm>
          <a:prstGeom prst="rect">
            <a:avLst/>
          </a:prstGeom>
          <a:noFill/>
          <a:ln/>
        </p:spPr>
        <p:txBody>
          <a:bodyPr wrap="square" lIns="0" tIns="0" rIns="0" bIns="0"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S-R4</a:t>
            </a:r>
            <a:endParaRPr lang="en-US" sz="1600" dirty="0"/>
          </a:p>
          <a:p>
            <a:pPr algn="ctr" indent="0" marL="0">
              <a:buNone/>
            </a:pPr>
            <a:r>
              <a:rPr lang="en-US" sz="1600" b="1" dirty="0">
                <a:solidFill>
                  <a:srgbClr val="FFFFFF"/>
                </a:solidFill>
                <a:latin typeface="Pretendard" pitchFamily="34" charset="0"/>
                <a:ea typeface="Pretendard" pitchFamily="34" charset="-122"/>
                <a:cs typeface="Pretendard" pitchFamily="34" charset="-120"/>
              </a:rPr>
              <a:t>SQL 검증</a:t>
            </a:r>
            <a:endParaRPr lang="en-US" sz="1600" dirty="0"/>
          </a:p>
        </p:txBody>
      </p:sp>
      <p:sp>
        <p:nvSpPr>
          <p:cNvPr id="16" name="Shape 14"/>
          <p:cNvSpPr/>
          <p:nvPr/>
        </p:nvSpPr>
        <p:spPr>
          <a:xfrm>
            <a:off x="10268712" y="3337560"/>
            <a:ext cx="1554480" cy="1024128"/>
          </a:xfrm>
          <a:prstGeom prst="can">
            <a:avLst/>
          </a:prstGeom>
          <a:solidFill>
            <a:srgbClr val="4A5364"/>
          </a:solidFill>
          <a:ln w="12700">
            <a:solidFill>
              <a:srgbClr val="4A5364"/>
            </a:solidFill>
            <a:prstDash val="solid"/>
          </a:ln>
        </p:spPr>
      </p:sp>
      <p:sp>
        <p:nvSpPr>
          <p:cNvPr id="17" name="Text 15"/>
          <p:cNvSpPr/>
          <p:nvPr/>
        </p:nvSpPr>
        <p:spPr>
          <a:xfrm>
            <a:off x="10332720" y="3429000"/>
            <a:ext cx="1426464" cy="841248"/>
          </a:xfrm>
          <a:prstGeom prst="rect">
            <a:avLst/>
          </a:prstGeom>
          <a:noFill/>
          <a:ln/>
        </p:spPr>
        <p:txBody>
          <a:bodyPr wrap="square" lIns="0" tIns="0" rIns="0" bIns="0"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S-R5</a:t>
            </a:r>
            <a:endParaRPr lang="en-US" sz="1600" dirty="0"/>
          </a:p>
          <a:p>
            <a:pPr algn="ctr" indent="0" marL="0">
              <a:buNone/>
            </a:pPr>
            <a:r>
              <a:rPr lang="en-US" sz="1600" b="1" dirty="0">
                <a:solidFill>
                  <a:srgbClr val="FFFFFF"/>
                </a:solidFill>
                <a:latin typeface="Pretendard" pitchFamily="34" charset="0"/>
                <a:ea typeface="Pretendard" pitchFamily="34" charset="-122"/>
                <a:cs typeface="Pretendard" pitchFamily="34" charset="-120"/>
              </a:rPr>
              <a:t>내부 DB 조회</a:t>
            </a:r>
            <a:endParaRPr lang="en-US" sz="1600" dirty="0"/>
          </a:p>
        </p:txBody>
      </p:sp>
      <p:sp>
        <p:nvSpPr>
          <p:cNvPr id="18" name="Shape 16"/>
          <p:cNvSpPr/>
          <p:nvPr/>
        </p:nvSpPr>
        <p:spPr>
          <a:xfrm>
            <a:off x="12188952" y="3337560"/>
            <a:ext cx="1554480" cy="1024128"/>
          </a:xfrm>
          <a:prstGeom prst="roundRect">
            <a:avLst>
              <a:gd name="adj" fmla="val 5357"/>
            </a:avLst>
          </a:prstGeom>
          <a:solidFill>
            <a:srgbClr val="1E2A5C"/>
          </a:solidFill>
          <a:ln w="12700">
            <a:solidFill>
              <a:srgbClr val="1E2A5C"/>
            </a:solidFill>
            <a:prstDash val="solid"/>
          </a:ln>
        </p:spPr>
      </p:sp>
      <p:sp>
        <p:nvSpPr>
          <p:cNvPr id="19" name="Text 17"/>
          <p:cNvSpPr/>
          <p:nvPr/>
        </p:nvSpPr>
        <p:spPr>
          <a:xfrm>
            <a:off x="12252960" y="3429000"/>
            <a:ext cx="1426464" cy="841248"/>
          </a:xfrm>
          <a:prstGeom prst="rect">
            <a:avLst/>
          </a:prstGeom>
          <a:noFill/>
          <a:ln/>
        </p:spPr>
        <p:txBody>
          <a:bodyPr wrap="square" lIns="0" tIns="0" rIns="0" bIns="0"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S-R6</a:t>
            </a:r>
            <a:endParaRPr lang="en-US" sz="1600" dirty="0"/>
          </a:p>
          <a:p>
            <a:pPr algn="ctr" indent="0" marL="0">
              <a:buNone/>
            </a:pPr>
            <a:r>
              <a:rPr lang="en-US" sz="1600" b="1" dirty="0">
                <a:solidFill>
                  <a:srgbClr val="FFFFFF"/>
                </a:solidFill>
                <a:latin typeface="Pretendard" pitchFamily="34" charset="0"/>
                <a:ea typeface="Pretendard" pitchFamily="34" charset="-122"/>
                <a:cs typeface="Pretendard" pitchFamily="34" charset="-120"/>
              </a:rPr>
              <a:t>응답 구성과 반환</a:t>
            </a:r>
            <a:endParaRPr lang="en-US" sz="1600" dirty="0"/>
          </a:p>
        </p:txBody>
      </p:sp>
      <p:sp>
        <p:nvSpPr>
          <p:cNvPr id="20" name="Shape 18"/>
          <p:cNvSpPr/>
          <p:nvPr/>
        </p:nvSpPr>
        <p:spPr>
          <a:xfrm>
            <a:off x="2063801" y="3849624"/>
            <a:ext cx="368503" cy="0"/>
          </a:xfrm>
          <a:prstGeom prst="line">
            <a:avLst/>
          </a:prstGeom>
          <a:noFill/>
          <a:ln w="22860">
            <a:solidFill>
              <a:srgbClr val="2E74C6"/>
            </a:solidFill>
            <a:prstDash val="solid"/>
            <a:tailEnd type="triangle"/>
          </a:ln>
        </p:spPr>
      </p:sp>
      <p:sp>
        <p:nvSpPr>
          <p:cNvPr id="21" name="Shape 19"/>
          <p:cNvSpPr/>
          <p:nvPr/>
        </p:nvSpPr>
        <p:spPr>
          <a:xfrm flipV="1">
            <a:off x="3209544" y="2834640"/>
            <a:ext cx="0" cy="502920"/>
          </a:xfrm>
          <a:prstGeom prst="line">
            <a:avLst/>
          </a:prstGeom>
          <a:noFill/>
          <a:ln w="22860">
            <a:solidFill>
              <a:srgbClr val="2E74C6"/>
            </a:solidFill>
            <a:prstDash val="solid"/>
          </a:ln>
        </p:spPr>
      </p:sp>
      <p:sp>
        <p:nvSpPr>
          <p:cNvPr id="22" name="Shape 20"/>
          <p:cNvSpPr/>
          <p:nvPr/>
        </p:nvSpPr>
        <p:spPr>
          <a:xfrm>
            <a:off x="3209544" y="2834640"/>
            <a:ext cx="1143000" cy="0"/>
          </a:xfrm>
          <a:prstGeom prst="line">
            <a:avLst/>
          </a:prstGeom>
          <a:noFill/>
          <a:ln w="22860">
            <a:solidFill>
              <a:srgbClr val="2E74C6"/>
            </a:solidFill>
            <a:prstDash val="solid"/>
            <a:tailEnd type="triangle"/>
          </a:ln>
        </p:spPr>
      </p:sp>
      <p:sp>
        <p:nvSpPr>
          <p:cNvPr id="23" name="Shape 21"/>
          <p:cNvSpPr/>
          <p:nvPr/>
        </p:nvSpPr>
        <p:spPr>
          <a:xfrm>
            <a:off x="3209544" y="4361688"/>
            <a:ext cx="0" cy="502920"/>
          </a:xfrm>
          <a:prstGeom prst="line">
            <a:avLst/>
          </a:prstGeom>
          <a:noFill/>
          <a:ln w="22860">
            <a:solidFill>
              <a:srgbClr val="2E74C6"/>
            </a:solidFill>
            <a:prstDash val="solid"/>
          </a:ln>
        </p:spPr>
      </p:sp>
      <p:sp>
        <p:nvSpPr>
          <p:cNvPr id="24" name="Shape 22"/>
          <p:cNvSpPr/>
          <p:nvPr/>
        </p:nvSpPr>
        <p:spPr>
          <a:xfrm>
            <a:off x="3209544" y="4864608"/>
            <a:ext cx="1143000" cy="0"/>
          </a:xfrm>
          <a:prstGeom prst="line">
            <a:avLst/>
          </a:prstGeom>
          <a:noFill/>
          <a:ln w="22860">
            <a:solidFill>
              <a:srgbClr val="2E74C6"/>
            </a:solidFill>
            <a:prstDash val="solid"/>
            <a:tailEnd type="triangle"/>
          </a:ln>
        </p:spPr>
      </p:sp>
      <p:sp>
        <p:nvSpPr>
          <p:cNvPr id="25" name="Text 23"/>
          <p:cNvSpPr/>
          <p:nvPr/>
        </p:nvSpPr>
        <p:spPr>
          <a:xfrm>
            <a:off x="3374136" y="2414016"/>
            <a:ext cx="685800" cy="274320"/>
          </a:xfrm>
          <a:prstGeom prst="rect">
            <a:avLst/>
          </a:prstGeom>
          <a:noFill/>
          <a:ln/>
        </p:spPr>
        <p:txBody>
          <a:bodyPr wrap="square" lIns="0" tIns="0" rIns="0" bIns="0" rtlCol="0" anchor="ctr"/>
          <a:lstStyle/>
          <a:p>
            <a:pPr algn="ctr" indent="0" marL="0">
              <a:buNone/>
            </a:pPr>
            <a:r>
              <a:rPr lang="en-US" sz="1400" dirty="0">
                <a:solidFill>
                  <a:srgbClr val="1E2A5C"/>
                </a:solidFill>
                <a:latin typeface="Pretendard" pitchFamily="34" charset="0"/>
                <a:ea typeface="Pretendard" pitchFamily="34" charset="-122"/>
                <a:cs typeface="Pretendard" pitchFamily="34" charset="-120"/>
              </a:rPr>
              <a:t>일치</a:t>
            </a:r>
            <a:endParaRPr lang="en-US" sz="1400" dirty="0"/>
          </a:p>
        </p:txBody>
      </p:sp>
      <p:sp>
        <p:nvSpPr>
          <p:cNvPr id="26" name="Text 24"/>
          <p:cNvSpPr/>
          <p:nvPr/>
        </p:nvSpPr>
        <p:spPr>
          <a:xfrm>
            <a:off x="3374136" y="4956048"/>
            <a:ext cx="804672" cy="274320"/>
          </a:xfrm>
          <a:prstGeom prst="rect">
            <a:avLst/>
          </a:prstGeom>
          <a:noFill/>
          <a:ln/>
        </p:spPr>
        <p:txBody>
          <a:bodyPr wrap="square" lIns="0" tIns="0" rIns="0" bIns="0" rtlCol="0" anchor="ctr"/>
          <a:lstStyle/>
          <a:p>
            <a:pPr algn="ctr" indent="0" marL="0">
              <a:buNone/>
            </a:pPr>
            <a:r>
              <a:rPr lang="en-US" sz="1400" dirty="0">
                <a:solidFill>
                  <a:srgbClr val="1E2A5C"/>
                </a:solidFill>
                <a:latin typeface="Pretendard" pitchFamily="34" charset="0"/>
                <a:ea typeface="Pretendard" pitchFamily="34" charset="-122"/>
                <a:cs typeface="Pretendard" pitchFamily="34" charset="-120"/>
              </a:rPr>
              <a:t>미일치</a:t>
            </a:r>
            <a:endParaRPr lang="en-US" sz="1400" dirty="0"/>
          </a:p>
        </p:txBody>
      </p:sp>
      <p:sp>
        <p:nvSpPr>
          <p:cNvPr id="27" name="Shape 25"/>
          <p:cNvSpPr/>
          <p:nvPr/>
        </p:nvSpPr>
        <p:spPr>
          <a:xfrm>
            <a:off x="6089904" y="2834640"/>
            <a:ext cx="182880" cy="0"/>
          </a:xfrm>
          <a:prstGeom prst="line">
            <a:avLst/>
          </a:prstGeom>
          <a:noFill/>
          <a:ln w="22860">
            <a:solidFill>
              <a:srgbClr val="2E74C6"/>
            </a:solidFill>
            <a:prstDash val="solid"/>
          </a:ln>
        </p:spPr>
      </p:sp>
      <p:sp>
        <p:nvSpPr>
          <p:cNvPr id="28" name="Shape 26"/>
          <p:cNvSpPr/>
          <p:nvPr/>
        </p:nvSpPr>
        <p:spPr>
          <a:xfrm>
            <a:off x="6272784" y="2834640"/>
            <a:ext cx="0" cy="1014984"/>
          </a:xfrm>
          <a:prstGeom prst="line">
            <a:avLst/>
          </a:prstGeom>
          <a:noFill/>
          <a:ln w="22860">
            <a:solidFill>
              <a:srgbClr val="2E74C6"/>
            </a:solidFill>
            <a:prstDash val="solid"/>
          </a:ln>
        </p:spPr>
      </p:sp>
      <p:sp>
        <p:nvSpPr>
          <p:cNvPr id="29" name="Shape 27"/>
          <p:cNvSpPr/>
          <p:nvPr/>
        </p:nvSpPr>
        <p:spPr>
          <a:xfrm>
            <a:off x="6089904" y="4864608"/>
            <a:ext cx="182880" cy="0"/>
          </a:xfrm>
          <a:prstGeom prst="line">
            <a:avLst/>
          </a:prstGeom>
          <a:noFill/>
          <a:ln w="22860">
            <a:solidFill>
              <a:srgbClr val="2E74C6"/>
            </a:solidFill>
            <a:prstDash val="solid"/>
          </a:ln>
        </p:spPr>
      </p:sp>
      <p:sp>
        <p:nvSpPr>
          <p:cNvPr id="30" name="Shape 28"/>
          <p:cNvSpPr/>
          <p:nvPr/>
        </p:nvSpPr>
        <p:spPr>
          <a:xfrm flipV="1">
            <a:off x="6272784" y="3849624"/>
            <a:ext cx="0" cy="1014984"/>
          </a:xfrm>
          <a:prstGeom prst="line">
            <a:avLst/>
          </a:prstGeom>
          <a:noFill/>
          <a:ln w="22860">
            <a:solidFill>
              <a:srgbClr val="2E74C6"/>
            </a:solidFill>
            <a:prstDash val="solid"/>
          </a:ln>
        </p:spPr>
      </p:sp>
      <p:sp>
        <p:nvSpPr>
          <p:cNvPr id="31" name="Shape 29"/>
          <p:cNvSpPr/>
          <p:nvPr/>
        </p:nvSpPr>
        <p:spPr>
          <a:xfrm>
            <a:off x="6272784" y="3849624"/>
            <a:ext cx="155448" cy="0"/>
          </a:xfrm>
          <a:prstGeom prst="line">
            <a:avLst/>
          </a:prstGeom>
          <a:noFill/>
          <a:ln w="22860">
            <a:solidFill>
              <a:srgbClr val="2E74C6"/>
            </a:solidFill>
            <a:prstDash val="solid"/>
            <a:tailEnd type="triangle"/>
          </a:ln>
        </p:spPr>
      </p:sp>
      <p:sp>
        <p:nvSpPr>
          <p:cNvPr id="32" name="Shape 30"/>
          <p:cNvSpPr/>
          <p:nvPr/>
        </p:nvSpPr>
        <p:spPr>
          <a:xfrm>
            <a:off x="7982712" y="3849624"/>
            <a:ext cx="365760" cy="0"/>
          </a:xfrm>
          <a:prstGeom prst="line">
            <a:avLst/>
          </a:prstGeom>
          <a:noFill/>
          <a:ln w="22860">
            <a:solidFill>
              <a:srgbClr val="2E74C6"/>
            </a:solidFill>
            <a:prstDash val="solid"/>
            <a:tailEnd type="triangle"/>
          </a:ln>
        </p:spPr>
      </p:sp>
      <p:sp>
        <p:nvSpPr>
          <p:cNvPr id="33" name="Shape 31"/>
          <p:cNvSpPr/>
          <p:nvPr/>
        </p:nvSpPr>
        <p:spPr>
          <a:xfrm>
            <a:off x="9902952" y="3849624"/>
            <a:ext cx="365760" cy="0"/>
          </a:xfrm>
          <a:prstGeom prst="line">
            <a:avLst/>
          </a:prstGeom>
          <a:noFill/>
          <a:ln w="22860">
            <a:solidFill>
              <a:srgbClr val="2E74C6"/>
            </a:solidFill>
            <a:prstDash val="solid"/>
            <a:tailEnd type="triangle"/>
          </a:ln>
        </p:spPr>
      </p:sp>
      <p:sp>
        <p:nvSpPr>
          <p:cNvPr id="34" name="Shape 32"/>
          <p:cNvSpPr/>
          <p:nvPr/>
        </p:nvSpPr>
        <p:spPr>
          <a:xfrm>
            <a:off x="11823192" y="3849624"/>
            <a:ext cx="365760" cy="0"/>
          </a:xfrm>
          <a:prstGeom prst="line">
            <a:avLst/>
          </a:prstGeom>
          <a:noFill/>
          <a:ln w="22860">
            <a:solidFill>
              <a:srgbClr val="2E74C6"/>
            </a:solidFill>
            <a:prstDash val="solid"/>
            <a:tailEnd type="triangle"/>
          </a:ln>
        </p:spPr>
      </p:sp>
      <p:sp>
        <p:nvSpPr>
          <p:cNvPr id="35" name="Text 33"/>
          <p:cNvSpPr/>
          <p:nvPr/>
        </p:nvSpPr>
        <p:spPr>
          <a:xfrm>
            <a:off x="509321" y="2267712"/>
            <a:ext cx="1554480" cy="347472"/>
          </a:xfrm>
          <a:prstGeom prst="rect">
            <a:avLst/>
          </a:prstGeom>
          <a:noFill/>
          <a:ln/>
        </p:spPr>
        <p:txBody>
          <a:bodyPr wrap="square" lIns="0" tIns="0" rIns="0" bIns="0" rtlCol="0" anchor="ctr"/>
          <a:lstStyle/>
          <a:p>
            <a:pPr algn="ctr" indent="0" marL="0">
              <a:buNone/>
            </a:pPr>
            <a:r>
              <a:rPr lang="en-US" sz="1800" b="1" dirty="0">
                <a:solidFill>
                  <a:srgbClr val="1E2A5C"/>
                </a:solidFill>
                <a:latin typeface="Pretendard" pitchFamily="34" charset="0"/>
                <a:ea typeface="Pretendard" pitchFamily="34" charset="-122"/>
                <a:cs typeface="Pretendard" pitchFamily="34" charset="-120"/>
              </a:rPr>
              <a:t>동기 요청</a:t>
            </a:r>
            <a:endParaRPr lang="en-US" sz="1800" dirty="0"/>
          </a:p>
        </p:txBody>
      </p:sp>
      <p:sp>
        <p:nvSpPr>
          <p:cNvPr id="36" name="Shape 34"/>
          <p:cNvSpPr/>
          <p:nvPr/>
        </p:nvSpPr>
        <p:spPr>
          <a:xfrm>
            <a:off x="1286561" y="2706624"/>
            <a:ext cx="0" cy="630936"/>
          </a:xfrm>
          <a:prstGeom prst="line">
            <a:avLst/>
          </a:prstGeom>
          <a:noFill/>
          <a:ln w="22860">
            <a:solidFill>
              <a:srgbClr val="2E74C6"/>
            </a:solidFill>
            <a:prstDash val="solid"/>
            <a:tailEnd type="triangle"/>
          </a:ln>
        </p:spPr>
      </p:sp>
      <p:sp>
        <p:nvSpPr>
          <p:cNvPr id="37" name="Text 35"/>
          <p:cNvSpPr/>
          <p:nvPr/>
        </p:nvSpPr>
        <p:spPr>
          <a:xfrm>
            <a:off x="12188952" y="2267712"/>
            <a:ext cx="1554480" cy="347472"/>
          </a:xfrm>
          <a:prstGeom prst="rect">
            <a:avLst/>
          </a:prstGeom>
          <a:noFill/>
          <a:ln/>
        </p:spPr>
        <p:txBody>
          <a:bodyPr wrap="square" lIns="0" tIns="0" rIns="0" bIns="0" rtlCol="0" anchor="ctr"/>
          <a:lstStyle/>
          <a:p>
            <a:pPr algn="ctr" indent="0" marL="0">
              <a:buNone/>
            </a:pPr>
            <a:r>
              <a:rPr lang="en-US" sz="1800" b="1" dirty="0">
                <a:solidFill>
                  <a:srgbClr val="1E2A5C"/>
                </a:solidFill>
                <a:latin typeface="Pretendard" pitchFamily="34" charset="0"/>
                <a:ea typeface="Pretendard" pitchFamily="34" charset="-122"/>
                <a:cs typeface="Pretendard" pitchFamily="34" charset="-120"/>
              </a:rPr>
              <a:t>종료</a:t>
            </a:r>
            <a:endParaRPr lang="en-US" sz="1800" dirty="0"/>
          </a:p>
        </p:txBody>
      </p:sp>
      <p:sp>
        <p:nvSpPr>
          <p:cNvPr id="38" name="Shape 36"/>
          <p:cNvSpPr/>
          <p:nvPr/>
        </p:nvSpPr>
        <p:spPr>
          <a:xfrm flipV="1">
            <a:off x="12966192" y="2706624"/>
            <a:ext cx="0" cy="630936"/>
          </a:xfrm>
          <a:prstGeom prst="line">
            <a:avLst/>
          </a:prstGeom>
          <a:noFill/>
          <a:ln w="22860">
            <a:solidFill>
              <a:srgbClr val="2E74C6"/>
            </a:solidFill>
            <a:prstDash val="solid"/>
            <a:tailEnd type="triangle"/>
          </a:ln>
        </p:spPr>
      </p:sp>
      <p:sp>
        <p:nvSpPr>
          <p:cNvPr id="39" name="Shape 37"/>
          <p:cNvSpPr/>
          <p:nvPr/>
        </p:nvSpPr>
        <p:spPr>
          <a:xfrm>
            <a:off x="1286561" y="4361688"/>
            <a:ext cx="0" cy="1563624"/>
          </a:xfrm>
          <a:prstGeom prst="line">
            <a:avLst/>
          </a:prstGeom>
          <a:noFill/>
          <a:ln w="22860">
            <a:solidFill>
              <a:srgbClr val="404155"/>
            </a:solidFill>
            <a:prstDash val="dash"/>
          </a:ln>
        </p:spPr>
      </p:sp>
      <p:sp>
        <p:nvSpPr>
          <p:cNvPr id="40" name="Shape 38"/>
          <p:cNvSpPr/>
          <p:nvPr/>
        </p:nvSpPr>
        <p:spPr>
          <a:xfrm>
            <a:off x="2820924" y="4105656"/>
            <a:ext cx="0" cy="1819656"/>
          </a:xfrm>
          <a:prstGeom prst="line">
            <a:avLst/>
          </a:prstGeom>
          <a:noFill/>
          <a:ln w="22860">
            <a:solidFill>
              <a:srgbClr val="404155"/>
            </a:solidFill>
            <a:prstDash val="dash"/>
          </a:ln>
        </p:spPr>
      </p:sp>
      <p:sp>
        <p:nvSpPr>
          <p:cNvPr id="41" name="Shape 39"/>
          <p:cNvSpPr/>
          <p:nvPr/>
        </p:nvSpPr>
        <p:spPr>
          <a:xfrm>
            <a:off x="7205472" y="4361688"/>
            <a:ext cx="0" cy="1563624"/>
          </a:xfrm>
          <a:prstGeom prst="line">
            <a:avLst/>
          </a:prstGeom>
          <a:noFill/>
          <a:ln w="22860">
            <a:solidFill>
              <a:srgbClr val="404155"/>
            </a:solidFill>
            <a:prstDash val="dash"/>
          </a:ln>
        </p:spPr>
      </p:sp>
      <p:sp>
        <p:nvSpPr>
          <p:cNvPr id="42" name="Shape 40"/>
          <p:cNvSpPr/>
          <p:nvPr/>
        </p:nvSpPr>
        <p:spPr>
          <a:xfrm>
            <a:off x="9125712" y="4361688"/>
            <a:ext cx="0" cy="1563624"/>
          </a:xfrm>
          <a:prstGeom prst="line">
            <a:avLst/>
          </a:prstGeom>
          <a:noFill/>
          <a:ln w="22860">
            <a:solidFill>
              <a:srgbClr val="404155"/>
            </a:solidFill>
            <a:prstDash val="dash"/>
          </a:ln>
        </p:spPr>
      </p:sp>
      <p:sp>
        <p:nvSpPr>
          <p:cNvPr id="43" name="Shape 41"/>
          <p:cNvSpPr/>
          <p:nvPr/>
        </p:nvSpPr>
        <p:spPr>
          <a:xfrm>
            <a:off x="11045952" y="4361688"/>
            <a:ext cx="0" cy="1563624"/>
          </a:xfrm>
          <a:prstGeom prst="line">
            <a:avLst/>
          </a:prstGeom>
          <a:noFill/>
          <a:ln w="22860">
            <a:solidFill>
              <a:srgbClr val="404155"/>
            </a:solidFill>
            <a:prstDash val="dash"/>
          </a:ln>
        </p:spPr>
      </p:sp>
      <p:sp>
        <p:nvSpPr>
          <p:cNvPr id="44" name="Shape 42"/>
          <p:cNvSpPr/>
          <p:nvPr/>
        </p:nvSpPr>
        <p:spPr>
          <a:xfrm>
            <a:off x="5221224" y="5321808"/>
            <a:ext cx="0" cy="603504"/>
          </a:xfrm>
          <a:prstGeom prst="line">
            <a:avLst/>
          </a:prstGeom>
          <a:noFill/>
          <a:ln w="22860">
            <a:solidFill>
              <a:srgbClr val="404155"/>
            </a:solidFill>
            <a:prstDash val="dash"/>
          </a:ln>
        </p:spPr>
      </p:sp>
      <p:sp>
        <p:nvSpPr>
          <p:cNvPr id="45" name="Shape 43"/>
          <p:cNvSpPr/>
          <p:nvPr/>
        </p:nvSpPr>
        <p:spPr>
          <a:xfrm>
            <a:off x="1286561" y="5925312"/>
            <a:ext cx="11679631" cy="0"/>
          </a:xfrm>
          <a:prstGeom prst="line">
            <a:avLst/>
          </a:prstGeom>
          <a:noFill/>
          <a:ln w="22860">
            <a:solidFill>
              <a:srgbClr val="404155"/>
            </a:solidFill>
            <a:prstDash val="dash"/>
          </a:ln>
        </p:spPr>
      </p:sp>
      <p:sp>
        <p:nvSpPr>
          <p:cNvPr id="46" name="Shape 44"/>
          <p:cNvSpPr/>
          <p:nvPr/>
        </p:nvSpPr>
        <p:spPr>
          <a:xfrm flipV="1">
            <a:off x="12966192" y="4361688"/>
            <a:ext cx="0" cy="1563624"/>
          </a:xfrm>
          <a:prstGeom prst="line">
            <a:avLst/>
          </a:prstGeom>
          <a:noFill/>
          <a:ln w="22860">
            <a:solidFill>
              <a:srgbClr val="404155"/>
            </a:solidFill>
            <a:prstDash val="dash"/>
            <a:tailEnd type="triangle"/>
          </a:ln>
        </p:spPr>
      </p:sp>
      <p:sp>
        <p:nvSpPr>
          <p:cNvPr id="47" name="Text 45"/>
          <p:cNvSpPr/>
          <p:nvPr/>
        </p:nvSpPr>
        <p:spPr>
          <a:xfrm>
            <a:off x="509321" y="6281928"/>
            <a:ext cx="13624560" cy="347472"/>
          </a:xfrm>
          <a:prstGeom prst="rect">
            <a:avLst/>
          </a:prstGeom>
          <a:noFill/>
          <a:ln/>
        </p:spPr>
        <p:txBody>
          <a:bodyPr wrap="square" lIns="0" tIns="0" rIns="0" bIns="0" rtlCol="0" anchor="ctr"/>
          <a:lstStyle/>
          <a:p>
            <a:pPr indent="0" marL="0">
              <a:buNone/>
            </a:pPr>
            <a:r>
              <a:rPr lang="en-US" sz="1800" dirty="0">
                <a:solidFill>
                  <a:srgbClr val="404155"/>
                </a:solidFill>
                <a:latin typeface="Pretendard" pitchFamily="34" charset="0"/>
                <a:ea typeface="Pretendard" pitchFamily="34" charset="-122"/>
                <a:cs typeface="Pretendard" pitchFamily="34" charset="-120"/>
              </a:rPr>
              <a:t>오류 또는 시간 부족 → S-R6에서 오류 반환. SQL 재생성 없음</a:t>
            </a:r>
            <a:endParaRPr lang="en-US" sz="1800" dirty="0"/>
          </a:p>
        </p:txBody>
      </p:sp>
      <p:sp>
        <p:nvSpPr>
          <p:cNvPr id="48" name="Shape 46"/>
          <p:cNvSpPr/>
          <p:nvPr/>
        </p:nvSpPr>
        <p:spPr>
          <a:xfrm>
            <a:off x="509321" y="6903720"/>
            <a:ext cx="228600" cy="228600"/>
          </a:xfrm>
          <a:prstGeom prst="rect">
            <a:avLst/>
          </a:prstGeom>
          <a:solidFill>
            <a:srgbClr val="1E2A5C"/>
          </a:solidFill>
          <a:ln w="12700">
            <a:solidFill>
              <a:srgbClr val="1E2A5C"/>
            </a:solidFill>
            <a:prstDash val="solid"/>
          </a:ln>
        </p:spPr>
      </p:sp>
      <p:sp>
        <p:nvSpPr>
          <p:cNvPr id="49" name="Text 47"/>
          <p:cNvSpPr/>
          <p:nvPr/>
        </p:nvSpPr>
        <p:spPr>
          <a:xfrm>
            <a:off x="856793" y="6839712"/>
            <a:ext cx="2743200" cy="329184"/>
          </a:xfrm>
          <a:prstGeom prst="rect">
            <a:avLst/>
          </a:prstGeom>
          <a:noFill/>
          <a:ln/>
        </p:spPr>
        <p:txBody>
          <a:bodyPr wrap="square" lIns="0" tIns="0" rIns="0" bIns="0" rtlCol="0" anchor="ctr"/>
          <a:lstStyle/>
          <a:p>
            <a:pPr indent="0" marL="0">
              <a:buNone/>
            </a:pPr>
            <a:r>
              <a:rPr lang="en-US" sz="1600" dirty="0">
                <a:solidFill>
                  <a:srgbClr val="2B3242"/>
                </a:solidFill>
                <a:latin typeface="Pretendard" pitchFamily="34" charset="0"/>
                <a:ea typeface="Pretendard" pitchFamily="34" charset="-122"/>
                <a:cs typeface="Pretendard" pitchFamily="34" charset="-120"/>
              </a:rPr>
              <a:t>규칙 코드</a:t>
            </a:r>
            <a:endParaRPr lang="en-US" sz="1600" dirty="0"/>
          </a:p>
        </p:txBody>
      </p:sp>
      <p:sp>
        <p:nvSpPr>
          <p:cNvPr id="50" name="Shape 48"/>
          <p:cNvSpPr/>
          <p:nvPr/>
        </p:nvSpPr>
        <p:spPr>
          <a:xfrm>
            <a:off x="3801161" y="6903720"/>
            <a:ext cx="228600" cy="228600"/>
          </a:xfrm>
          <a:prstGeom prst="rect">
            <a:avLst/>
          </a:prstGeom>
          <a:solidFill>
            <a:srgbClr val="2E74C6"/>
          </a:solidFill>
          <a:ln w="12700">
            <a:solidFill>
              <a:srgbClr val="2E74C6"/>
            </a:solidFill>
            <a:prstDash val="solid"/>
          </a:ln>
        </p:spPr>
      </p:sp>
      <p:sp>
        <p:nvSpPr>
          <p:cNvPr id="51" name="Text 49"/>
          <p:cNvSpPr/>
          <p:nvPr/>
        </p:nvSpPr>
        <p:spPr>
          <a:xfrm>
            <a:off x="4148633" y="6839712"/>
            <a:ext cx="2743200" cy="329184"/>
          </a:xfrm>
          <a:prstGeom prst="rect">
            <a:avLst/>
          </a:prstGeom>
          <a:noFill/>
          <a:ln/>
        </p:spPr>
        <p:txBody>
          <a:bodyPr wrap="square" lIns="0" tIns="0" rIns="0" bIns="0" rtlCol="0" anchor="ctr"/>
          <a:lstStyle/>
          <a:p>
            <a:pPr indent="0" marL="0">
              <a:buNone/>
            </a:pPr>
            <a:r>
              <a:rPr lang="en-US" sz="1600" dirty="0">
                <a:solidFill>
                  <a:srgbClr val="2B3242"/>
                </a:solidFill>
                <a:latin typeface="Pretendard" pitchFamily="34" charset="0"/>
                <a:ea typeface="Pretendard" pitchFamily="34" charset="-122"/>
                <a:cs typeface="Pretendard" pitchFamily="34" charset="-120"/>
              </a:rPr>
              <a:t>LLM 호출</a:t>
            </a:r>
            <a:endParaRPr lang="en-US" sz="1600" dirty="0"/>
          </a:p>
        </p:txBody>
      </p:sp>
      <p:sp>
        <p:nvSpPr>
          <p:cNvPr id="52" name="Shape 50"/>
          <p:cNvSpPr/>
          <p:nvPr/>
        </p:nvSpPr>
        <p:spPr>
          <a:xfrm>
            <a:off x="7093001" y="6903720"/>
            <a:ext cx="228600" cy="228600"/>
          </a:xfrm>
          <a:prstGeom prst="rect">
            <a:avLst/>
          </a:prstGeom>
          <a:solidFill>
            <a:srgbClr val="4A5364"/>
          </a:solidFill>
          <a:ln w="12700">
            <a:solidFill>
              <a:srgbClr val="4A5364"/>
            </a:solidFill>
            <a:prstDash val="solid"/>
          </a:ln>
        </p:spPr>
      </p:sp>
      <p:sp>
        <p:nvSpPr>
          <p:cNvPr id="53" name="Text 51"/>
          <p:cNvSpPr/>
          <p:nvPr/>
        </p:nvSpPr>
        <p:spPr>
          <a:xfrm>
            <a:off x="7440473" y="6839712"/>
            <a:ext cx="2743200" cy="329184"/>
          </a:xfrm>
          <a:prstGeom prst="rect">
            <a:avLst/>
          </a:prstGeom>
          <a:noFill/>
          <a:ln/>
        </p:spPr>
        <p:txBody>
          <a:bodyPr wrap="square" lIns="0" tIns="0" rIns="0" bIns="0" rtlCol="0" anchor="ctr"/>
          <a:lstStyle/>
          <a:p>
            <a:pPr indent="0" marL="0">
              <a:buNone/>
            </a:pPr>
            <a:r>
              <a:rPr lang="en-US" sz="1600" dirty="0">
                <a:solidFill>
                  <a:srgbClr val="2B3242"/>
                </a:solidFill>
                <a:latin typeface="Pretendard" pitchFamily="34" charset="0"/>
                <a:ea typeface="Pretendard" pitchFamily="34" charset="-122"/>
                <a:cs typeface="Pretendard" pitchFamily="34" charset="-120"/>
              </a:rPr>
              <a:t>내부 DB</a:t>
            </a:r>
            <a:endParaRPr lang="en-US" sz="1600" dirty="0"/>
          </a:p>
        </p:txBody>
      </p:sp>
      <p:sp>
        <p:nvSpPr>
          <p:cNvPr id="54" name="Shape 52"/>
          <p:cNvSpPr/>
          <p:nvPr/>
        </p:nvSpPr>
        <p:spPr>
          <a:xfrm>
            <a:off x="10384841" y="6903720"/>
            <a:ext cx="228600" cy="228600"/>
          </a:xfrm>
          <a:prstGeom prst="rect">
            <a:avLst/>
          </a:prstGeom>
          <a:solidFill>
            <a:srgbClr val="404155"/>
          </a:solidFill>
          <a:ln w="12700">
            <a:solidFill>
              <a:srgbClr val="404155"/>
            </a:solidFill>
            <a:prstDash val="solid"/>
          </a:ln>
        </p:spPr>
      </p:sp>
      <p:sp>
        <p:nvSpPr>
          <p:cNvPr id="55" name="Text 53"/>
          <p:cNvSpPr/>
          <p:nvPr/>
        </p:nvSpPr>
        <p:spPr>
          <a:xfrm>
            <a:off x="10732313" y="6839712"/>
            <a:ext cx="2743200" cy="329184"/>
          </a:xfrm>
          <a:prstGeom prst="rect">
            <a:avLst/>
          </a:prstGeom>
          <a:noFill/>
          <a:ln/>
        </p:spPr>
        <p:txBody>
          <a:bodyPr wrap="square" lIns="0" tIns="0" rIns="0" bIns="0" rtlCol="0" anchor="ctr"/>
          <a:lstStyle/>
          <a:p>
            <a:pPr indent="0" marL="0">
              <a:buNone/>
            </a:pPr>
            <a:r>
              <a:rPr lang="en-US" sz="1600" dirty="0">
                <a:solidFill>
                  <a:srgbClr val="2B3242"/>
                </a:solidFill>
                <a:latin typeface="Pretendard" pitchFamily="34" charset="0"/>
                <a:ea typeface="Pretendard" pitchFamily="34" charset="-122"/>
                <a:cs typeface="Pretendard" pitchFamily="34" charset="-120"/>
              </a:rPr>
              <a:t>오류 경로: 점선</a:t>
            </a:r>
            <a:endParaRPr lang="en-US" sz="1600" dirty="0"/>
          </a:p>
        </p:txBody>
      </p:sp>
      <p:sp>
        <p:nvSpPr>
          <p:cNvPr id="56" name="Shape 54"/>
          <p:cNvSpPr/>
          <p:nvPr/>
        </p:nvSpPr>
        <p:spPr>
          <a:xfrm>
            <a:off x="509321" y="7388352"/>
            <a:ext cx="13624560" cy="0"/>
          </a:xfrm>
          <a:prstGeom prst="line">
            <a:avLst/>
          </a:prstGeom>
          <a:noFill/>
          <a:ln w="12700">
            <a:solidFill>
              <a:srgbClr val="E9ECF3"/>
            </a:solidFill>
            <a:prstDash val="solid"/>
          </a:ln>
        </p:spPr>
      </p:sp>
      <p:sp>
        <p:nvSpPr>
          <p:cNvPr id="57" name="Text 55"/>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설계 결정 기록,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② S-R1 검색 요청 접수와 검증</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허용된 회원 범위와 질문만 다음 단계로 전달</a:t>
            </a:r>
            <a:endParaRPr lang="en-US" sz="1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44577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항목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설계값</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단계ID</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S-R1</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단계명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검색 요청 접수와 검증</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이전 단계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트리거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비즈니스 목표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허용된 회원 범위와 질문만 다음 단계로 전달</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입력 데이터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question(string,필수,질문), auth_scope(AuthScope,필수,인증), config(Config,필수,설정)</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수행 작업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1. 시간 초기화 2. 회원 권한 검증 3. 식별자 정제와 잔존 검사 4. 원문 폐기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출력 데이터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context(Context,필수,공통 필드와 error:Error|null 포함)</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담당자 유형</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규칙기반 코드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외부시스템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없음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예외 처리</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입력, 권한 또는 정제 실패 시 오류 상태로 S-R6 이동</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비고</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원문과 회원ID는 외부 전송과 일반 로그 금지</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기본 워크플로우, 설계 가이드 1-2</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S-R1 개인정보 처리 사례</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확실히 지울 수 없는 식별자는 LLM 호출 전에 거부함</a:t>
            </a:r>
            <a:endParaRPr lang="en-US" sz="1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764177">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항목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설계값</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검출 대상</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카드번호, 주민등록번호, 전화번호, 이메일과 인증 토큰 패턴</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마스킹 가능 예</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“전화번호 010-0000-0000, 내 사용액” → 전화번호 제거 후 잔존 검사</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거부 예</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“카드 번호는 1 2 3 …” 등 분할 식별자 의심을 해소 못하면 PRIVACY_REJECTED</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회원 범위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“다른 회원 사용액”은 인증 범위를 바꾸지 못함. 불명확하거나 권한 밖이면 거부</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원문 폐기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정제 성공 또는 거부 판정 직후 요청 원문 참조 폐기. 로그와 추적 저장 제외</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검증할 사례</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식별자 변형, XML 닫기 문자, 정제 후 빈 질문, 로그 잔존 여부</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승인 개선안과 DB 카탈로그, 2026-10-21</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② S-R2 정형쿼리 또는 NL2SQL 판단</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고정 조회를 먼저 쓰고 미해당 질문만 SQL 생성</a:t>
            </a:r>
            <a:endParaRPr lang="en-US" sz="1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44577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항목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설계값</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단계ID</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S-R2</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단계명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정형쿼리 또는 NL2SQL 판단</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이전 단계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S-R1</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비즈니스 목표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고정 조회를 먼저 쓰고 미해당 질문만 SQL 생성</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입력 데이터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context(Context,필수,S-R1 출력 전체)</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수행 작업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의도, 기간, 단위, 지표, 상태가 모두 일치한 단일 Q-ID 선택. 그 외 C-01 또는 명확화</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출력 데이터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context(Context,필수,이전 필드 + plan:Plan, error 포함)</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담당자 유형</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규칙기반 코드 + 생성형AI</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외부시스템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Groq LLM(C-01, NL2SQL 경로만)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예외 처리</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시간 초과, 잘못된 JSON, 모호한 질문은 S-R6 이동</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비고</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LLM 최대 1회, 통신 재시도 0회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기본 워크플로우, 설계 가이드 1-2</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② S-R3 계획 적합성 판정</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제공 가능한 기간과 결과 단위에 맞는 조회만 진행</a:t>
            </a:r>
            <a:endParaRPr lang="en-US" sz="1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44577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항목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설계값</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단계ID</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S-R3</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단계명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계획 적합성 판정</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이전 단계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S-R2</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비즈니스 목표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제공 가능한 기간과 결과 단위에 맞는 조회만 진행</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입력 데이터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context(Context,필수,S-R2 출력과 plan 포함)</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수행 작업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상태와 사유 쌍, 질문 슬롯, View, 기간, 단위와 컬럼 일치 검사</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출력 데이터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context(Context,필수,이전 필드 + plan_check:boolean, error 포함)</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담당자 유형</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규칙기반 코드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외부시스템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없음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예외 처리</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미지원 기간, 단위 또는 불명확한 조건은 S-R6으로 오류 반환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비고</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SQL 수정과 LLM 재호출 없음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기본 워크플로우, 설계 가이드 1-2</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S-R3와 S-R4 계획 대조 사례</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계획의 주장과 실제 SQL 구조가 같은지를 단계별로 확인함</a:t>
            </a:r>
            <a:endParaRPr lang="en-US" sz="1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668655">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항목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설계값</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상태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ready/OK만 실행 가능. unsupported/UNSUPPORTED와 ambiguous/AMBIGUOUS는 종료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질문 슬롯</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기간, 지표, 단위, 상태 필터가 미확정이면 추정 보완하지 않음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View와 컬럼</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plan.view = FROM View. selected_columns = SELECT 이름과 순서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Q-08 예</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활성 카드 요청인데 SQL에 ACTIVE 조건이 없으면 SQL_REJECTED</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기간 예</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일별 요청에 월별 View를 선택하면 S-R3에서 거부</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집계 예</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카드별 요청에 전체 SUM만 반환하면 grain 및 GROUP BY 대조로 거부</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실행 불변식</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AST 검사 뒤 SQL 바이트 해시 고정. S-R5에서 재확인 후 그대로 실행</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승인 개선안과 DB 카탈로그, 2026-10-21</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② S-R4 SQL 검증</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허용된 읽기 전용 SQL만 실행 단계로 전달</a:t>
            </a:r>
            <a:endParaRPr lang="en-US" sz="1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44577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항목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설계값</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단계ID</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S-R4</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단계명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SQL 검증</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이전 단계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S-R3</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비즈니스 목표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허용된 읽기 전용 SQL만 실행 단계로 전달</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입력 데이터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context(Context,필수,S-R3 출력과 plan_check 포함)</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수행 작업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1. 구문 트리 검사 2. 뷰, 컬럼과 함수 검사 3. SELECT와 LIMIT 검사 4. SQL 고정</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출력 데이터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context(Context,필수,이전 필드 + validated_sql:string, sql_fingerprint:string, error 포함)</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담당자 유형</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규칙기반 코드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외부시스템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없음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예외 처리</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SQL_REJECTED로 S-R6 이동. SQL 재생성 없음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비고</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정형 SQL도 같은 검사를 통과해야 실행 가능</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기본 워크플로우, 설계 가이드 1-2</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② S-R5 SQL 실행</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같은 회원 범위에서 검증된 SQL 결과만 수신</a:t>
            </a:r>
            <a:endParaRPr lang="en-US" sz="1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44577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항목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설계값</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단계ID</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S-R5</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단계명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SQL 실행</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이전 단계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S-R4</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비즈니스 목표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같은 회원 범위에서 검증된 SQL 결과만 수신</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입력 데이터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context(Context,필수,S-R4 출력과 validated_sql 포함)</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수행 작업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1. 연결 확보 2. 읽기 전용 트랜잭션 3. 세션 변수 3개 설정 4. 제한 시간 내 조회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출력 데이터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context(Context,필수,이전 필드 + result:QueryResult, error 포함)</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담당자 유형</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규칙기반 코드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외부시스템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없음(시스템 내부 DB)</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예외 처리</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취소와 롤백, 오염 연결 폐기 후 DB 오류를 숨기고 S-R6 이동</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비고</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DB 단계 전체 8초. SQL 실행 3초 이하, 전체 종료 1초 예약</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기본 워크플로우, 설계 가이드 1-2</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② S-R6 응답 구성과 반환</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결과 범위와 한계를 포함한 일관된 응답 반환</a:t>
            </a:r>
            <a:endParaRPr lang="en-US" sz="1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44577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항목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설계값</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단계ID</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S-R6</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단계명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응답 구성과 반환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이전 단계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S-R5 성공 또는 S-R1 ~ S-R5 오류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비즈니스 목표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결과 범위와 한계를 포함한 일관된 응답 반환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입력 데이터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context(Context,필수,이전 출력. result:QueryResult 또는 error:Error 포함)</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수행 작업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1. 성공/오류 선택 2. 범위와 단위 부착 3. 민감정보 제외 4. 응답 반환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출력 데이터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response(Response,필수,응답), http_status(integer,필수,HTTP 상태)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담당자 유형</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규칙기반 코드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외부시스템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없음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예외 처리</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직렬화 실패 시 최소 오류 응답. 전송 불가 시 연결 종료 기록</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44577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비고</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종료용 1초 사용. 시작 기준 1.5초 검사 예외</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기본 워크플로우, 설계 가이드 1-2</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③ 외부시스템 연동 명세</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외부 호출은 S-R2의 Groq LLM 1개이며 최대 대기는 15초임</a:t>
            </a:r>
            <a:endParaRPr lang="en-US" sz="1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59436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항목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설계값</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단계ID / 외부시스템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S-R2 / Groq</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연동 유형 / 커넥터ID</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LLM / C-01</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타임아웃 / 재시도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15초 / 0회. SDK 자동 재시도도 0회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최악값</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15 × (1 + 0) = 15초</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부분결과 검토</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불가. 완성된 SQL이 없으면 검증과 조회가 불가능함</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대체 경로 검토</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불가. 고정 조회 미일치 후 호출하며 보조 모델은 없음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초과 시 처리</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안전 종료. UPSTREAM_TIMEOUT을 담아 S-R6 이동</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내부 DB</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외부 연동 목록에서 제외. 전체 예산의 내부 처리 몫 사용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설계 결정 기록,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④ 반복 구간 명세</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반복 구간은 해당없음이며 모든 실패는 응답 단계로 이동함</a:t>
            </a:r>
            <a:endParaRPr lang="en-US" sz="1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59436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항목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설계값</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반복구간ID</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해당없음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비즈니스 목표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한 번의 검증된 조회와 예측 가능한 대기 시간 유지</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단계ID / 재시도 횟수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해당없음 / 0회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반복 구간 최악값</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0초. 되돌아가는 흐름 없음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착지 단계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S-R6 응답 구성과 반환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반복이 아닌 동작</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S-R2의 고정/LLM 선택은 한 번의 분기이며 재실행이 아님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재시도와 SQL 재생성</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통신 0회, SQL 재생성 0회, DB 자동 재실행 0회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호출자 재요청</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새 요청으로 처음부터 처리. 서버 내부 반복과 별개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설계 결정 기록,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⑤ 워크플로우 명세와 예산</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내부 단계와 외부 호출을 모두 더해 전체 30초 안에서 시작 여부를 판정함</a:t>
            </a:r>
            <a:endParaRPr lang="en-US" sz="1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59436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항목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설계값</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워크플로우ID / 이름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W-1 / SQL 검색기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목표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질문에 맞는 허용 조회와 근거 DB 결과 반환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전체 시간 / 종료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30초 / S-R6 1초. 종료 시간 중복 합산 금지</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정형 경로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1 + 1 + 1 + 2 + 8 + 1 = 14초</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NL2SQL 경로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1 + 16 + 1 + 2 + 8 + 1 = 29초</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S-R2 생성 경로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Groq 15초 + 전후 처리 1초 = 16초</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예산 대조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max(14,29) = 29초 ≤ 30초. 여유 1초</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반복 / 재개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내부 반복 0회. 새 요청은 처음부터 처리</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승인 결정 D-03, 2026-10-21</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단계별 시간 상한</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단계 상한을 합산하여 종료까지 필요한 시간을 예약함</a:t>
            </a:r>
            <a:endParaRPr lang="en-US" sz="1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668655">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항목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설계값</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S-R1 요청 검증</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1초 / 1초</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S-R2 경로 선택과 생성</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정형 1초 / NL2SQL 16초 (Groq 15 + 전후 검사 1)</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S-R3 계획 검사</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1초 / 1초</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S-R4 SQL 검사</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2초 / 2초</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S-R5 DB 조회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8초 / 8초</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S-R6 응답</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1초 / 1초. 종료 예약과 같은 몫</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합계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정형 14초 / NL2SQL 29초. 전체 30초 중 1초 여유</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승인 개선안과 DB 카탈로그, 2026-10-21</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커넥터 목록과 연결 방식</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SQL을 생성하는 C-01만 외부 커넥터로 등록함</a:t>
            </a:r>
            <a:endParaRPr lang="en-US" sz="18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59436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항목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설계값</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ID / 커넥터명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C-01 / 조회 계획과 SQL 생성</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연동 방식 / 제공자</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LLM / Groq</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모델</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openai/gpt-oss-120b</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베이스 URL</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https://api.groq.com</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요청 경로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POST /openai/v1/chat/completions</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인증 / 키 환경변수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Authorization: Bearer / GROQ_API_KEY</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SDK</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AsyncGroq 기본 주소 사용. max_retries=0, timeout=15</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DB 제외 이유</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PostgreSQL은 시스템 내부 구성요소이므로 목록에서 제외</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Groq 공식 API와 SDK 문서,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C-01 실행 설정</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단일 SQL 계획의 변동을 줄이고 출력 구조를 제한하는 기본값 채택</a:t>
            </a:r>
            <a:endParaRPr lang="en-US" sz="18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4114800"/>
                <a:gridCol w="9509760"/>
              </a:tblGrid>
              <a:tr h="59436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항목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설계값</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temperature / top_p</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0.1 / 1. 지원 범위 0 ~ 2 / 0 ~ 1</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max_completion_tokens</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2048. 설계 가정이며 출력 잘림 여부 실측 필요</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모델 공식 한도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최대 출력 65536토큰, 문맥 131072토큰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reasoning_effort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low. 지원값 low / medium / high</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include_reasoning / stream / n</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false / false / 1. 중간 추론 저장 없음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response_format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type=json_schema, json_schema.strict=true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미전송 항목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tools, top_k, reasoning_format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시간과 재시도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최대 15초, max_retries=0. 절대 종료시각도 별도 통제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Groq API, 모델, 구조화 출력 문서,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C-01 요청 한도와 실패 처리</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조직별 실제 한도를 확인하고 요청 안에서는 자동 재시도를 하지 않음</a:t>
            </a:r>
            <a:endParaRPr lang="en-US" sz="1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554959">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항목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설계값</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554959">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요청 한도 범위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Groq 조직 단위. 현재 계정 실제 한도는 확인 필요</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54959">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공개 요금제 예시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Free 한도 예시는 실제 계정 한도로 채택하지 않음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54959">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확인 방법</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계정 Limits 화면과 응답 제한 헤더 확인</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54959">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429와 제공자 오류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UPSTREAM_UNAVAILABLE로 변환. 요청 내 재시도 없음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54959">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시간 초과</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UPSTREAM_TIMEOUT으로 S-R6 이동</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909571">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JSON 실패 또는 출력 잘림</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INVALID_MODEL_OUTPUT으로 종료. SQL 복구와 재생성 없음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54959">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SDK 근거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공식 groq-python README. context7 도구 부재로 대체 확인</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54959">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추가 검증</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실제 설정 조합, 2048토큰 완결성, 15초/30초 달성률</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Groq rate-limits와 공식 SDK,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C-01 시스템 프롬프트 요약</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질문은 데이터로 취급하고 허용 스키마 안의 계획과 SQL만 생성함</a:t>
            </a:r>
            <a:endParaRPr lang="en-US" sz="18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59436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항목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설계값</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[목표]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단일 조회 계획과 검증 가능한 SQL 생성</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[역할]</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SQL 검색기 전용 계획 작성자. 실행 권한 없음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[맥락]</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고정 조회 미해당 질문만 처리. 결과 데이터 수신 없음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[입력]</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정제 질문, 조건, 날짜, 허용 스키마와 SQL 정책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[처리]</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지원 가능성 → 단일 뷰 → 기간과 단위 → SQL 작성</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[출력]</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Plan JSON 1개. 설명 문장과 코드 울타리 없음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[제약조건]</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허용 밖 조회, 식별자 추정, 세션 조작과 다중 문장 금지</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[예시]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지원 질문 ready, 모호한 질문 ambiguous와 null SQL</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설계 결정 기록,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C-01 유저 프롬프트와 전송 경계</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정제 질문과 공개 논리 스키마만 보내고 회원 범위와 결과는 내부에 둠</a:t>
            </a:r>
            <a:endParaRPr lang="en-US" sz="18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4114800"/>
                <a:gridCol w="9509760"/>
              </a:tblGrid>
              <a:tr h="59436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항목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설계값</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question_clean</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string, 필수. S-R1이 식별자를 제거한 질문</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question_slots</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object, 필수. 규칙으로 확인한 기간, 지표와 결과 단위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base_date / coverage_start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date, 필수. 데이터 기준일과 제공 시작일</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schema_catalog</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object, 필수. 허용 app 뷰 8개와 컬럼 정의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sql_policy</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object, 필수. 허용 문법, 함수와 최대 200행</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유저 프롬프트</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위 변수를 JSON 직렬화한 뒤 XML retriever_input 안에 삽입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전송 금지</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원문 질문, 회원ID, 카드번호, 인증정보, 내부 뷰, DB 결과</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일반 로그</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request_id, 단계, 경로, 소요시간, 행수, 오류 코드만 기록</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설계 결정 기록,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C-01 응답 데이터 구조</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모델의 계획은 다음 두 단계에서 다시 검사하는 입력일 뿐임</a:t>
            </a:r>
            <a:endParaRPr lang="en-US" sz="18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4389120"/>
                <a:gridCol w="9235440"/>
              </a:tblGrid>
              <a:tr h="59436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필드(타입, 모두 필수)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의미와 값</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status(string)</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ready / unsupported / ambiguous</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reason_code(string)</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OK / UNSUPPORTED / AMBIGUOUS</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view(string|null)</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허용 뷰 1개. ready가 아니면 null</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sql(string|null)</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단일 SELECT. ready가 아니면 null</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grain(string|null)</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profile / card / card_month / merchant_month / month / day / aggregate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period_start(string|null)</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YYYY-MM-DD 시작일. 기간 없는 조회는 null</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period_end(string|null)</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YYYY-MM-DD 종료일. 기간 없는 조회는 null</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selected_columns(array&lt;string&gt;)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결과 컬럼 또는 집계 별칭. 실패 시 빈 배열</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설계 결정 기록,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C-01 버전과 검증 연결</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프롬프트, 스키마와 공개 카탈로그를 v2 한 묶음으로 관리함</a:t>
            </a:r>
            <a:endParaRPr lang="en-US" sz="18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668655">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항목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설계값</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명세 원본</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work/slides_v2.json: system_prompt와 llm_response_schema</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문서 전문</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sql_retriever_설계서_v2.md 부록 B, C, D, 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정책 버전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sql-retriever-v2-2026-10-21</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공개 카탈로그</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동일 JSON의 public_view_catalog: 8개 View와 컬럼</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응답 검사</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모든 키 필수, additionalProperties=false, 상태와 사유 쌍 검사</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실패</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빈 content, finish_reason=length, 스키마 불일치 → INVALID_MODEL_OUTPUT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실행 한계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실제 Groq 호출과 15초 달성 미검증. 배포 전 확인</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승인 개선안과 DB 카탈로그, 2026-10-21</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⑥ 남은 시간 예산 정책</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종료와 미실행 외부 호출 몫을 먼저 확보한 뒤 단계 시작 여부를 판단함</a:t>
            </a:r>
            <a:endParaRPr lang="en-US" sz="18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59436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항목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설계값</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측정 시점</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S-R1 ~ S-R5 직전, S-R2 분기 확정 후 재측정</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가이드 잔여 예산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30 - 실제 경과 - 종료 1 - 미실행 외부 호출 최악값</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검사 A</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가이드 잔여 예산 ≥ 시작 기준 1.5초</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검사 B</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남은 실제 시간 ≥ 현재 단계부터 S-R6까지 남은 경로 상한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시작 조건</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검사 A와 B가 모두 참일 때만 진행</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분기 미정</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외부 15초 예약. 남은 단계 합계는 큰 경로 사용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호출 완료 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이미 끝난 Groq 예약 제거. 실제 경과를 다시 측정</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S-R6</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예약 1초로 종료. 시작 기준 검사 재적용 없음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설계 결정 기록,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⑥ 남은 예산 계산 예</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실제 경과시간과 남은 호출에 따라 같은 30초 예산의 진행 여부가 달라짐</a:t>
            </a:r>
            <a:endParaRPr lang="en-US" sz="18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3474720"/>
                <a:gridCol w="10149840"/>
              </a:tblGrid>
              <a:tr h="764177">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시점</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계산과 판정</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S-R1, 경과 0초</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A:14 ≥ 1.5 / B:30 ≥ 29 → 시작</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S-R2 미정, 경과 1초</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A:13 ≥ 1.5 / B:29 ≥ 28 → 시작</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S-R2 미정, 경과 12초</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A:2 ≥ 1.5 / B:18 &lt; 28 → 종료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S-R3, 경과 17초</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A:12 ≥ 1.5 / B:13 ≥ 12 → 시작</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S-R5, 경과 21초</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A:8 ≥ 1.5 / B:9 ≥ 9 → 시작</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S-R5, 경과 27초</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A:2 ≥ 1.5 / B:3 &lt; 9 → 종료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설계 결정 기록,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⑥ 예산 부족 시 착지와 DB 제한</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DB 연결 대기부터 결과 수신까지 같은 절대 종료시각으로 제한함</a:t>
            </a:r>
            <a:endParaRPr lang="en-US" sz="18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59436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항목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설계값</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S-R1 / S-R2</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부분결과와 대체 없음 → TIME_BUDGET_EXCEEDED로 S-R6</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S-R3 / S-R4</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검증 전 결과 사용 불가 → 같은 오류로 S-R6</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S-R5</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조회 미완료 결과 반환 불가 → 취소 후 S-R6</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S-R6</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성공 또는 최소 오류 응답으로 종료. 추가 호출 없음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절대 종료시각</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요청 시작 + 30초. 내부 작업 종료는 1초 앞선 시각</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DB 대기 범위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풀 1초, 연결 1초, 설정 1초, 실행 3초, 수신 1초, 정리 1초</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statement_timeout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min(3초, 수신 1초와 정리 1초를 뺀 DB 단계 잔여시간)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정리</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취소와 롤백도 제한 안에서 수행. 미완료 연결은 폐기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설계 결정 기록,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공개 논리 뷰 목록</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논리 뷰는 허용된 컬럼과 기간으로 데이터를 보여 주는 DB 조회 창임</a:t>
            </a:r>
            <a:endParaRPr lang="en-US" sz="18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5303520"/>
                <a:gridCol w="8321040"/>
              </a:tblGrid>
              <a:tr h="59436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허용 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제공 내용과 결과 단위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app.customer_profile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기준일까지 가입한 회원의 가입일과 연령대 / 회원</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app.customer_cards</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기준일까지 발급한 카드, 상품과 연회비 / 카드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app.monthly_usage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기준월 포함 최근 6개월 승인 사용액 / 카드와 월</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app.customer_delinquency</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기준일에 완료된 최신 연체 월 / 회원과 완료월</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app.merchant_usage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최근 6개월 승인 사용액 / 카드, 월과 가맹점</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app.customer_delinquency_history</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최근 최대 12개 완료월의 연체 / 회원과 월</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app.customer_daily_usage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최근 최대 90일 승인 사용액 / 회원과 날짜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app.card_fee_usage_6m</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자료상 연회비와 최대 6개 달 승인액 / 카드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04 ~ 07 SQL 정의와 db_catalog.json, 2026-10-21</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내부 뷰와 조사 범위</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보이는 12개 뷰 중 LLM 허용 범위는 공개 app 뷰 8개임</a:t>
            </a:r>
            <a:endParaRPr lang="en-US" sz="18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5303520"/>
                <a:gridCol w="8321040"/>
              </a:tblGrid>
              <a:tr h="59436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대상</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설계 처리와 확인 범위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app_internal.customer_cards_full</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원본 card_id 포함. LLM 허용 목록 제외</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app_internal.member_basic</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가명 member_id 포함. LLM 허용 목록 제외</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app_internal.request_scope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시간 범위 조립. LLM 허용 목록 제외</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app_internal.usage_months</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최근 6개월 조립. LLM 허용 목록 제외</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04 SQL과 DB 비교</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04 SQL의 8개 모두 존재. 추가 SQL에 정의된 View 4개 존재</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추가 정의 출처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05_merchant_usage.sql, 06_history_daily_usage.sql, 07_card_fee_usage.sql</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접근 조사</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2026-10-21 cardlab에서 12개 LIMIT 0 성공. 업무 행 0건 조회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확인 한계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관리자 조사로 실행 계정 최소 권한을 검증할 수 없음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work/db_catalog.json, 2026-10-21</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기간과 값 해석</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같은 사용액이어도 뷰별 제공 기간과 데이터가 없는 날짜의 표현이 다름</a:t>
            </a:r>
            <a:endParaRPr lang="en-US" sz="18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59436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항목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설계값</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월별 사용액</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기준월 포함 6개월. 제공 시작월과 카드 발급일에 따라 조정</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가맹점별 사용액</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6개월 창, 제공 시작일, 카드 발급일 중 가장 늦은 날부터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일별 사용액</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기준일 포함 최대 90일. 제공 시작일과 가입일 이후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연체 이력</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기준일에 완료된 마지막 월부터 최대 12개월</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행 없음과 0</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서로 구분. 일별/월별 뷰는 조건에 따라 0값 생성</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card_ref</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회원 안의 카드 표시값. 영구 전역ID나 원본 카드ID가 아님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상품과 상태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current_status는 현재 상태이며 과거 이력이 아님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월중 제공 시작</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월별 뷰는 시작월 기준. 부분월 완전성 별도 확인 필요</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04, 05, 06 SQL 정의</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결과의 0, NULL과 완전성</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값이 없는 이유와 행 상한 상태를 구분하여 반환함</a:t>
            </a:r>
            <a:endParaRPr lang="en-US" sz="18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619197">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항목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설계값</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61919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0행</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조회 결과 없음. 회원 미존재나 거래 없음으로 단정 금지</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1014858">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card_fee_usage_6m의 0</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관측 기간이 성립하고 승인 거래가 없으면 승인액과 건수 0</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61919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같은 View의 집계 NULL</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usage_period_start/end와 6개월 집계 NULL은 관측 기간 미성립</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61919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다른 View의 NULL</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각 컬럼 정의에 따라 해석. 카탈로그의 nullable만으로 의미 추정 금지</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61919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완전성 complete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반환 행수 &lt; SQL LIMIT. 해당 SQL 결과의 완전성 의미</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61919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상한 도달</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행수 = LIMIT → limit_reached_more_unknown. 추가 행 여부 미확정</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61919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응답 원칙</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잘린 목록 합산을 전체 합계로 표시 금지. 실제 기간과 축소 이유 표시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승인 개선안과 DB 카탈로그, 2026-10-21</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customer_cards 컬럼 (1/2)</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허용 컬럼과 DB 타입을 그대로 사용하며 목록 밖 컬럼은 거부함</a:t>
            </a:r>
            <a:endParaRPr lang="en-US" sz="18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764177">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컬럼명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DB 타입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card_ref</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text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product_id</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text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product_name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text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brand</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text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issue_date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date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current_status</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text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db_catalog.json,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customer_cards 컬럼 (2/2)</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허용 컬럼과 DB 타입을 그대로 사용하며 목록 밖 컬럼은 거부함</a:t>
            </a:r>
            <a:endParaRPr lang="en-US" sz="18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6583680"/>
                <a:gridCol w="7040880"/>
              </a:tblGrid>
              <a:tr h="133731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컬럼명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DB 타입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133731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product_effective_date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date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133731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is_product_effective_on_base_date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boolean</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133731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annual_fee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integer</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db_catalog.json,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customer_daily_usage 컬럼</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허용 컬럼과 DB 타입을 그대로 사용하며 목록 밖 컬럼은 거부함</a:t>
            </a:r>
            <a:endParaRPr lang="en-US" sz="18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133731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컬럼명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DB 타입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133731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usage_date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date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133731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approved_amount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bigint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133731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transaction_count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integer</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db_catalog.json,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customer_delinquency 컬럼</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허용 컬럼과 DB 타입을 그대로 사용하며 목록 밖 컬럼은 거부함</a:t>
            </a:r>
            <a:endParaRPr lang="en-US" sz="18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89154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컬럼명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DB 타입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89154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base_month</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character(7)</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89154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as_of_date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date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89154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overdue_amount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integer</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89154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overdue_days</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integer</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89154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overdue_count_12m</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integer</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db_catalog.json,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customer_delinquency_history 컬럼</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허용 컬럼과 DB 타입을 그대로 사용하며 목록 밖 컬럼은 거부함</a:t>
            </a:r>
            <a:endParaRPr lang="en-US" sz="18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89154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컬럼명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DB 타입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89154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base_month</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character(7)</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89154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as_of_date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date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89154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overdue_amount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integer</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89154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overdue_days</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integer</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89154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overdue_count_12m</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integer</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db_catalog.json,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customer_profile 컬럼</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허용 컬럼과 DB 타입을 그대로 사용하며 목록 밖 컬럼은 거부함</a:t>
            </a:r>
            <a:endParaRPr lang="en-US" sz="18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178308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컬럼명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DB 타입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178308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join_date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date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178308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age_band</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text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db_catalog.json,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merchant_usage 컬럼 (1/2)</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허용 컬럼과 DB 타입을 그대로 사용하며 목록 밖 컬럼은 거부함</a:t>
            </a:r>
            <a:endParaRPr lang="en-US" sz="18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764177">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컬럼명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DB 타입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card_ref</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text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month</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text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period_start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date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period_end</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date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merchant_name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text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category</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text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db_catalog.json,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merchant_usage 컬럼 (2/2)</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허용 컬럼과 DB 타입을 그대로 사용하며 목록 밖 컬럼은 거부함</a:t>
            </a:r>
            <a:endParaRPr lang="en-US" sz="18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1069848">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컬럼명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DB 타입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1069848">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first_approved_date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date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1069848">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last_approved_date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date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1069848">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approved_amount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bigint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1069848">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transaction_count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integer</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db_catalog.json,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monthly_usage 컬럼</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허용 컬럼과 DB 타입을 그대로 사용하며 목록 밖 컬럼은 거부함</a:t>
            </a:r>
            <a:endParaRPr lang="en-US" sz="18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764177">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컬럼명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DB 타입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card_ref</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text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month</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text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period_start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date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period_end</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date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approved_amount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bigint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transaction_count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integer</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db_catalog.json,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card_fee_usage_6m 컬럼 (1/2)</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13개 공개 컬럼은 실제 DB 카탈로그의 이름과 타입을 사용함</a:t>
            </a:r>
            <a:endParaRPr lang="en-US" sz="18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6583680"/>
                <a:gridCol w="7040880"/>
              </a:tblGrid>
              <a:tr h="668655">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컬럼명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DB 타입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card_ref</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text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product_name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text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brand</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text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current_status</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text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product_effective_date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date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is_product_effective_on_base_date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boolean</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listed_annual_fee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integer</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승인 개선안과 DB 카탈로그, 2026-10-21</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card_fee_usage_6m 컬럼 (2/2)</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13개 공개 컬럼은 실제 DB 카탈로그의 이름과 타입을 사용함</a:t>
            </a:r>
            <a:endParaRPr lang="en-US" sz="18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6583680"/>
                <a:gridCol w="7040880"/>
              </a:tblGrid>
              <a:tr h="764177">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컬럼명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DB 타입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usage_period_start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date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usage_period_end</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date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approved_amount_6m</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bigint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transaction_count_6m</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integer</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covered_month_count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integer</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764177">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active_month_count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integer</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승인 개선안과 DB 카탈로그, 2026-10-21</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연회비와 사용액 해석</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연회비 부담 상담에 필요한 조회이며 해지 판단은 제공하지 않음</a:t>
            </a:r>
            <a:endParaRPr lang="en-US" sz="18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668655">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항목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설계값</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고객 상황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활성 카드의 상품 안내 연회비와 최근 사용 규모를 비교하려는 상담</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기간 시작</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기준월에서 5개월 전 월초, 실제 제공 시작일, 발급일 중 최댓값</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기간 종료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데이터 기준일. 오늘 날짜로 바꾸지 않음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월수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covered_month_count는 관측 기간의 달 수, active_month_count는 승인 발생 달 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상품 기준</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시행일이 기준일 뒤일 수 있음. 효력 여부를 함께 표시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비교 금지</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실제 청구액, 혜택 손익 또는 해지 권고로 확대 금지</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월별 View 차이</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monthly_usage는 제공 시작월 월초 사용. 월중 시작일이면 단순 합계 비교 금지</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승인 개선안과 DB 카탈로그, 2026-10-21</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정형쿼리 목록</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모든 조건이 정확히 맞으면 고정 SQL을 선택하고 일부만 맞으면 사용하지 않음</a:t>
            </a:r>
            <a:endParaRPr lang="en-US" sz="18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1280160"/>
                <a:gridCol w="6400800"/>
                <a:gridCol w="5943600"/>
              </a:tblGrid>
              <a:tr h="59436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ID</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질문 목적</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결과 단위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594360">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Q-01</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회원 가입일과 연령대</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요청 회원 1명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Q-02</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보유 카드와 연회비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카드 1개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Q-03</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최근 6개월 카드별 사용액과 건수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카드 1개와 월 1개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Q-04</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기준일 이전 완료월의 최신 연체 현황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요청 회원의 최신 완료월 1개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Q-05</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최근 6개월 가맹점과 업종별 사용액</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카드 1개, 월 1개, 가맹점 1개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Q-06</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최근 12개 완료월의 연체 이력</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요청 회원과 완료월 1개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Q-07</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최근 최대 90일의 일별 사용액</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요청 회원과 날짜 1개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Q-08</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활성 카드의 자료상 연회비와 6개월 승인액 및 건수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활성 카드 1개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기존 정형 후보와 assignment/fixed_query_catalog.json</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Q-ID 슬롯 매칭표</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등록 슬롯이 모두 일치하는 단일 후보만 선택함</a:t>
            </a:r>
            <a:endParaRPr lang="en-US" sz="18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59436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항목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설계값</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Q-01 / Q-02</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가입일과 연령대 / 전체 보유 카드와 상품 안내 연회비. 기간 없는 조회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Q-03</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최대 6개 달, 카드와 월 단위, 승인액과 건수, 추가 필터 없음</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Q-04 / Q-06</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최신 완료월 / 최대 12개 완료월, 회원과 월, 연체 지표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Q-05</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최대 6개 달, 카드와 월과 가맹점, 승인액과 건수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Q-07</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최대 90일, 회원과 날짜, 승인액과 건수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Q-08</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최대 6개 달, 활성 카드, 안내 연회비와 승인액 및 건수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우선순위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완전 일치 후보 1개만 정형 선택. 부분 일치는 NL2SQL</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다중 일치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동등 후보를 임의 선택하지 않음. 질문 미확정은 명확화 오류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승인 개선안과 DB 카탈로그, 2026-10-21</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Q-01 회원 가입일과 연령대</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요청 회원 1명 단위의 고정 조회이며 기존 EXPLAIN 기록 보유</a:t>
            </a:r>
            <a:endParaRPr lang="en-US" sz="1800" dirty="0"/>
          </a:p>
        </p:txBody>
      </p:sp>
      <p:sp>
        <p:nvSpPr>
          <p:cNvPr id="4" name="Shape 2"/>
          <p:cNvSpPr/>
          <p:nvPr/>
        </p:nvSpPr>
        <p:spPr>
          <a:xfrm>
            <a:off x="509321" y="1737360"/>
            <a:ext cx="13624560" cy="3474720"/>
          </a:xfrm>
          <a:prstGeom prst="roundRect">
            <a:avLst>
              <a:gd name="adj" fmla="val 2105"/>
            </a:avLst>
          </a:prstGeom>
          <a:solidFill>
            <a:srgbClr val="F5F8FC"/>
          </a:solidFill>
          <a:ln w="12700">
            <a:solidFill>
              <a:srgbClr val="D9E0EC"/>
            </a:solidFill>
            <a:prstDash val="solid"/>
          </a:ln>
        </p:spPr>
      </p:sp>
      <p:sp>
        <p:nvSpPr>
          <p:cNvPr id="5" name="Text 3"/>
          <p:cNvSpPr/>
          <p:nvPr/>
        </p:nvSpPr>
        <p:spPr>
          <a:xfrm>
            <a:off x="728777" y="1938528"/>
            <a:ext cx="13185648" cy="3072384"/>
          </a:xfrm>
          <a:prstGeom prst="rect">
            <a:avLst/>
          </a:prstGeom>
          <a:noFill/>
          <a:ln/>
        </p:spPr>
        <p:txBody>
          <a:bodyPr wrap="square" lIns="0" tIns="0" rIns="0" bIns="0" rtlCol="0" anchor="t"/>
          <a:lstStyle/>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SELECT</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  join_date, age_band</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FROM app.customer_profile</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LIMIT 1;</a:t>
            </a:r>
            <a:endParaRPr lang="en-US" sz="18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09321" y="5504688"/>
          <a:ext cx="13624560" cy="914400"/>
        </p:xfrm>
        <a:graphic>
          <a:graphicData uri="http://schemas.openxmlformats.org/drawingml/2006/table">
            <a:tbl>
              <a:tblPr/>
              <a:tblGrid>
                <a:gridCol w="2560320"/>
                <a:gridCol w="11064240"/>
              </a:tblGrid>
              <a:tr h="530352">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결과 단위</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요청 회원 1명</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30352">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EXPLAIN</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2026-10-15 기존 기록상 통과. 관리자 조사 권한 범위</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30352">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검증 한계</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실제 결과와 실행 성능 미검증. 업무 데이터 행 미조회</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bl>
          </a:graphicData>
        </a:graphic>
      </p:graphicFrame>
      <p:sp>
        <p:nvSpPr>
          <p:cNvPr id="7" name="Shape 4"/>
          <p:cNvSpPr/>
          <p:nvPr/>
        </p:nvSpPr>
        <p:spPr>
          <a:xfrm>
            <a:off x="509321" y="7388352"/>
            <a:ext cx="13624560" cy="0"/>
          </a:xfrm>
          <a:prstGeom prst="line">
            <a:avLst/>
          </a:prstGeom>
          <a:noFill/>
          <a:ln w="12700">
            <a:solidFill>
              <a:srgbClr val="E9ECF3"/>
            </a:solidFill>
            <a:prstDash val="solid"/>
          </a:ln>
        </p:spPr>
      </p:sp>
      <p:sp>
        <p:nvSpPr>
          <p:cNvPr id="8" name="Text 5"/>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fixed_query_candidates.json,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Q-02 보유 카드와 연회비</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카드 1개 단위의 고정 조회이며 기존 EXPLAIN 기록 보유</a:t>
            </a:r>
            <a:endParaRPr lang="en-US" sz="1800" dirty="0"/>
          </a:p>
        </p:txBody>
      </p:sp>
      <p:sp>
        <p:nvSpPr>
          <p:cNvPr id="4" name="Shape 2"/>
          <p:cNvSpPr/>
          <p:nvPr/>
        </p:nvSpPr>
        <p:spPr>
          <a:xfrm>
            <a:off x="509321" y="1737360"/>
            <a:ext cx="13624560" cy="3474720"/>
          </a:xfrm>
          <a:prstGeom prst="roundRect">
            <a:avLst>
              <a:gd name="adj" fmla="val 2105"/>
            </a:avLst>
          </a:prstGeom>
          <a:solidFill>
            <a:srgbClr val="F5F8FC"/>
          </a:solidFill>
          <a:ln w="12700">
            <a:solidFill>
              <a:srgbClr val="D9E0EC"/>
            </a:solidFill>
            <a:prstDash val="solid"/>
          </a:ln>
        </p:spPr>
      </p:sp>
      <p:sp>
        <p:nvSpPr>
          <p:cNvPr id="5" name="Text 3"/>
          <p:cNvSpPr/>
          <p:nvPr/>
        </p:nvSpPr>
        <p:spPr>
          <a:xfrm>
            <a:off x="728777" y="1938528"/>
            <a:ext cx="13185648" cy="3072384"/>
          </a:xfrm>
          <a:prstGeom prst="rect">
            <a:avLst/>
          </a:prstGeom>
          <a:noFill/>
          <a:ln/>
        </p:spPr>
        <p:txBody>
          <a:bodyPr wrap="square" lIns="0" tIns="0" rIns="0" bIns="0" rtlCol="0" anchor="t"/>
          <a:lstStyle/>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SELECT</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  card_ref, product_id, product_name, brand, issue_date, current_status,</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  product_effective_date, is_product_effective_on_base_date, annual_fee</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FROM app.customer_cards</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ORDER BY card_ref</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LIMIT 200;</a:t>
            </a:r>
            <a:endParaRPr lang="en-US" sz="18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09321" y="5504688"/>
          <a:ext cx="13624560" cy="914400"/>
        </p:xfrm>
        <a:graphic>
          <a:graphicData uri="http://schemas.openxmlformats.org/drawingml/2006/table">
            <a:tbl>
              <a:tblPr/>
              <a:tblGrid>
                <a:gridCol w="2560320"/>
                <a:gridCol w="11064240"/>
              </a:tblGrid>
              <a:tr h="530352">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결과 단위</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카드 1개</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30352">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EXPLAIN</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2026-10-15 기존 기록상 통과. 관리자 조사 권한 범위</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30352">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검증 한계</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실제 결과와 실행 성능 미검증. 업무 데이터 행 미조회</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bl>
          </a:graphicData>
        </a:graphic>
      </p:graphicFrame>
      <p:sp>
        <p:nvSpPr>
          <p:cNvPr id="7" name="Shape 4"/>
          <p:cNvSpPr/>
          <p:nvPr/>
        </p:nvSpPr>
        <p:spPr>
          <a:xfrm>
            <a:off x="509321" y="7388352"/>
            <a:ext cx="13624560" cy="0"/>
          </a:xfrm>
          <a:prstGeom prst="line">
            <a:avLst/>
          </a:prstGeom>
          <a:noFill/>
          <a:ln w="12700">
            <a:solidFill>
              <a:srgbClr val="E9ECF3"/>
            </a:solidFill>
            <a:prstDash val="solid"/>
          </a:ln>
        </p:spPr>
      </p:sp>
      <p:sp>
        <p:nvSpPr>
          <p:cNvPr id="8" name="Text 5"/>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fixed_query_candidates.json,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Q-03 최근 6개월 카드별 사용액과 건수</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카드 1개와 월 1개 단위의 고정 조회이며 기존 EXPLAIN 기록 보유</a:t>
            </a:r>
            <a:endParaRPr lang="en-US" sz="1800" dirty="0"/>
          </a:p>
        </p:txBody>
      </p:sp>
      <p:sp>
        <p:nvSpPr>
          <p:cNvPr id="4" name="Shape 2"/>
          <p:cNvSpPr/>
          <p:nvPr/>
        </p:nvSpPr>
        <p:spPr>
          <a:xfrm>
            <a:off x="509321" y="1737360"/>
            <a:ext cx="13624560" cy="3474720"/>
          </a:xfrm>
          <a:prstGeom prst="roundRect">
            <a:avLst>
              <a:gd name="adj" fmla="val 2105"/>
            </a:avLst>
          </a:prstGeom>
          <a:solidFill>
            <a:srgbClr val="F5F8FC"/>
          </a:solidFill>
          <a:ln w="12700">
            <a:solidFill>
              <a:srgbClr val="D9E0EC"/>
            </a:solidFill>
            <a:prstDash val="solid"/>
          </a:ln>
        </p:spPr>
      </p:sp>
      <p:sp>
        <p:nvSpPr>
          <p:cNvPr id="5" name="Text 3"/>
          <p:cNvSpPr/>
          <p:nvPr/>
        </p:nvSpPr>
        <p:spPr>
          <a:xfrm>
            <a:off x="728777" y="1938528"/>
            <a:ext cx="13185648" cy="3072384"/>
          </a:xfrm>
          <a:prstGeom prst="rect">
            <a:avLst/>
          </a:prstGeom>
          <a:noFill/>
          <a:ln/>
        </p:spPr>
        <p:txBody>
          <a:bodyPr wrap="square" lIns="0" tIns="0" rIns="0" bIns="0" rtlCol="0" anchor="t"/>
          <a:lstStyle/>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SELECT</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  card_ref, month, period_start, period_end, approved_amount,</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  transaction_count</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FROM app.monthly_usage</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ORDER BY month DESC, card_ref</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LIMIT 200;</a:t>
            </a:r>
            <a:endParaRPr lang="en-US" sz="18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09321" y="5504688"/>
          <a:ext cx="13624560" cy="914400"/>
        </p:xfrm>
        <a:graphic>
          <a:graphicData uri="http://schemas.openxmlformats.org/drawingml/2006/table">
            <a:tbl>
              <a:tblPr/>
              <a:tblGrid>
                <a:gridCol w="2560320"/>
                <a:gridCol w="11064240"/>
              </a:tblGrid>
              <a:tr h="530352">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결과 단위</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카드 1개와 월 1개</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30352">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EXPLAIN</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2026-10-15 기존 기록상 통과. 관리자 조사 권한 범위</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30352">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검증 한계</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실제 결과와 실행 성능 미검증. 업무 데이터 행 미조회</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bl>
          </a:graphicData>
        </a:graphic>
      </p:graphicFrame>
      <p:sp>
        <p:nvSpPr>
          <p:cNvPr id="7" name="Shape 4"/>
          <p:cNvSpPr/>
          <p:nvPr/>
        </p:nvSpPr>
        <p:spPr>
          <a:xfrm>
            <a:off x="509321" y="7388352"/>
            <a:ext cx="13624560" cy="0"/>
          </a:xfrm>
          <a:prstGeom prst="line">
            <a:avLst/>
          </a:prstGeom>
          <a:noFill/>
          <a:ln w="12700">
            <a:solidFill>
              <a:srgbClr val="E9ECF3"/>
            </a:solidFill>
            <a:prstDash val="solid"/>
          </a:ln>
        </p:spPr>
      </p:sp>
      <p:sp>
        <p:nvSpPr>
          <p:cNvPr id="8" name="Text 5"/>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fixed_query_candidates.json,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Q-04 기준일 이전 완료월의 최신 연체 현황</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요청 회원의 최신 완료월 1개 단위의 고정 조회이며 기존 EXPLAIN 기록 보유</a:t>
            </a:r>
            <a:endParaRPr lang="en-US" sz="1800" dirty="0"/>
          </a:p>
        </p:txBody>
      </p:sp>
      <p:sp>
        <p:nvSpPr>
          <p:cNvPr id="4" name="Shape 2"/>
          <p:cNvSpPr/>
          <p:nvPr/>
        </p:nvSpPr>
        <p:spPr>
          <a:xfrm>
            <a:off x="509321" y="1737360"/>
            <a:ext cx="13624560" cy="3474720"/>
          </a:xfrm>
          <a:prstGeom prst="roundRect">
            <a:avLst>
              <a:gd name="adj" fmla="val 2105"/>
            </a:avLst>
          </a:prstGeom>
          <a:solidFill>
            <a:srgbClr val="F5F8FC"/>
          </a:solidFill>
          <a:ln w="12700">
            <a:solidFill>
              <a:srgbClr val="D9E0EC"/>
            </a:solidFill>
            <a:prstDash val="solid"/>
          </a:ln>
        </p:spPr>
      </p:sp>
      <p:sp>
        <p:nvSpPr>
          <p:cNvPr id="5" name="Text 3"/>
          <p:cNvSpPr/>
          <p:nvPr/>
        </p:nvSpPr>
        <p:spPr>
          <a:xfrm>
            <a:off x="728777" y="1938528"/>
            <a:ext cx="13185648" cy="3072384"/>
          </a:xfrm>
          <a:prstGeom prst="rect">
            <a:avLst/>
          </a:prstGeom>
          <a:noFill/>
          <a:ln/>
        </p:spPr>
        <p:txBody>
          <a:bodyPr wrap="square" lIns="0" tIns="0" rIns="0" bIns="0" rtlCol="0" anchor="t"/>
          <a:lstStyle/>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SELECT</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  base_month, as_of_date, overdue_amount, overdue_days, overdue_count_12m</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FROM app.customer_delinquency</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ORDER BY base_month DESC</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LIMIT 1;</a:t>
            </a:r>
            <a:endParaRPr lang="en-US" sz="18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509321" y="5504688"/>
          <a:ext cx="13624560" cy="914400"/>
        </p:xfrm>
        <a:graphic>
          <a:graphicData uri="http://schemas.openxmlformats.org/drawingml/2006/table">
            <a:tbl>
              <a:tblPr/>
              <a:tblGrid>
                <a:gridCol w="2560320"/>
                <a:gridCol w="11064240"/>
              </a:tblGrid>
              <a:tr h="530352">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결과 단위</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요청 회원의 최신 완료월 1개</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30352">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EXPLAIN</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2026-10-15 기존 기록상 통과. 관리자 조사 권한 범위</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30352">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검증 한계</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실제 결과와 실행 성능 미검증. 업무 데이터 행 미조회</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bl>
          </a:graphicData>
        </a:graphic>
      </p:graphicFrame>
      <p:sp>
        <p:nvSpPr>
          <p:cNvPr id="7" name="Shape 4"/>
          <p:cNvSpPr/>
          <p:nvPr/>
        </p:nvSpPr>
        <p:spPr>
          <a:xfrm>
            <a:off x="509321" y="7388352"/>
            <a:ext cx="13624560" cy="0"/>
          </a:xfrm>
          <a:prstGeom prst="line">
            <a:avLst/>
          </a:prstGeom>
          <a:noFill/>
          <a:ln w="12700">
            <a:solidFill>
              <a:srgbClr val="E9ECF3"/>
            </a:solidFill>
            <a:prstDash val="solid"/>
          </a:ln>
        </p:spPr>
      </p:sp>
      <p:sp>
        <p:nvSpPr>
          <p:cNvPr id="8" name="Text 5"/>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fixed_query_candidates.json,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Q-05 최근 6개월 가맹점과 업종별 사용액</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카드 1개, 월 1개, 가맹점 1개 단위의 고정 조회이며 기존 EXPLAIN 기록 보유</a:t>
            </a:r>
            <a:endParaRPr lang="en-US" sz="1800" dirty="0"/>
          </a:p>
        </p:txBody>
      </p:sp>
      <p:sp>
        <p:nvSpPr>
          <p:cNvPr id="4" name="Shape 2"/>
          <p:cNvSpPr/>
          <p:nvPr/>
        </p:nvSpPr>
        <p:spPr>
          <a:xfrm>
            <a:off x="509321" y="1737360"/>
            <a:ext cx="13624560" cy="3474720"/>
          </a:xfrm>
          <a:prstGeom prst="roundRect">
            <a:avLst>
              <a:gd name="adj" fmla="val 2105"/>
            </a:avLst>
          </a:prstGeom>
          <a:solidFill>
            <a:srgbClr val="F5F8FC"/>
          </a:solidFill>
          <a:ln w="12700">
            <a:solidFill>
              <a:srgbClr val="D9E0EC"/>
            </a:solidFill>
            <a:prstDash val="solid"/>
          </a:ln>
        </p:spPr>
      </p:sp>
      <p:sp>
        <p:nvSpPr>
          <p:cNvPr id="5" name="Text 3"/>
          <p:cNvSpPr/>
          <p:nvPr/>
        </p:nvSpPr>
        <p:spPr>
          <a:xfrm>
            <a:off x="728777" y="1938528"/>
            <a:ext cx="13185648" cy="3072384"/>
          </a:xfrm>
          <a:prstGeom prst="rect">
            <a:avLst/>
          </a:prstGeom>
          <a:noFill/>
          <a:ln/>
        </p:spPr>
        <p:txBody>
          <a:bodyPr wrap="square" lIns="0" tIns="0" rIns="0" bIns="0" rtlCol="0" anchor="t"/>
          <a:lstStyle/>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SELECT</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  card_ref, month, period_start, period_end, merchant_name, category,</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  first_approved_date, last_approved_date, approved_amount,</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  transaction_count</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FROM app.merchant_usage</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ORDER BY month DESC, approved_amount DESC, card_ref, merchant_name, category</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LIMIT 200;</a:t>
            </a:r>
            <a:endParaRPr lang="en-US" sz="18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09321" y="5504688"/>
          <a:ext cx="13624560" cy="914400"/>
        </p:xfrm>
        <a:graphic>
          <a:graphicData uri="http://schemas.openxmlformats.org/drawingml/2006/table">
            <a:tbl>
              <a:tblPr/>
              <a:tblGrid>
                <a:gridCol w="2560320"/>
                <a:gridCol w="11064240"/>
              </a:tblGrid>
              <a:tr h="530352">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결과 단위</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카드 1개, 월 1개, 가맹점 1개</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30352">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EXPLAIN</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2026-10-15 기존 기록상 통과. 관리자 조사 권한 범위</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30352">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검증 한계</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실제 결과와 실행 성능 미검증. 업무 데이터 행 미조회</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bl>
          </a:graphicData>
        </a:graphic>
      </p:graphicFrame>
      <p:sp>
        <p:nvSpPr>
          <p:cNvPr id="7" name="Shape 4"/>
          <p:cNvSpPr/>
          <p:nvPr/>
        </p:nvSpPr>
        <p:spPr>
          <a:xfrm>
            <a:off x="509321" y="7388352"/>
            <a:ext cx="13624560" cy="0"/>
          </a:xfrm>
          <a:prstGeom prst="line">
            <a:avLst/>
          </a:prstGeom>
          <a:noFill/>
          <a:ln w="12700">
            <a:solidFill>
              <a:srgbClr val="E9ECF3"/>
            </a:solidFill>
            <a:prstDash val="solid"/>
          </a:ln>
        </p:spPr>
      </p:sp>
      <p:sp>
        <p:nvSpPr>
          <p:cNvPr id="8" name="Text 5"/>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fixed_query_candidates.json,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Q-06 최근 12개 완료월의 연체 이력</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요청 회원과 완료월 1개 단위의 고정 조회이며 기존 EXPLAIN 기록 보유</a:t>
            </a:r>
            <a:endParaRPr lang="en-US" sz="1800" dirty="0"/>
          </a:p>
        </p:txBody>
      </p:sp>
      <p:sp>
        <p:nvSpPr>
          <p:cNvPr id="4" name="Shape 2"/>
          <p:cNvSpPr/>
          <p:nvPr/>
        </p:nvSpPr>
        <p:spPr>
          <a:xfrm>
            <a:off x="509321" y="1737360"/>
            <a:ext cx="13624560" cy="3474720"/>
          </a:xfrm>
          <a:prstGeom prst="roundRect">
            <a:avLst>
              <a:gd name="adj" fmla="val 2105"/>
            </a:avLst>
          </a:prstGeom>
          <a:solidFill>
            <a:srgbClr val="F5F8FC"/>
          </a:solidFill>
          <a:ln w="12700">
            <a:solidFill>
              <a:srgbClr val="D9E0EC"/>
            </a:solidFill>
            <a:prstDash val="solid"/>
          </a:ln>
        </p:spPr>
      </p:sp>
      <p:sp>
        <p:nvSpPr>
          <p:cNvPr id="5" name="Text 3"/>
          <p:cNvSpPr/>
          <p:nvPr/>
        </p:nvSpPr>
        <p:spPr>
          <a:xfrm>
            <a:off x="728777" y="1938528"/>
            <a:ext cx="13185648" cy="3072384"/>
          </a:xfrm>
          <a:prstGeom prst="rect">
            <a:avLst/>
          </a:prstGeom>
          <a:noFill/>
          <a:ln/>
        </p:spPr>
        <p:txBody>
          <a:bodyPr wrap="square" lIns="0" tIns="0" rIns="0" bIns="0" rtlCol="0" anchor="t"/>
          <a:lstStyle/>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SELECT</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  base_month, as_of_date, overdue_amount, overdue_days, overdue_count_12m</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FROM app.customer_delinquency_history</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ORDER BY base_month DESC</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LIMIT 12;</a:t>
            </a:r>
            <a:endParaRPr lang="en-US" sz="18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09321" y="5504688"/>
          <a:ext cx="13624560" cy="914400"/>
        </p:xfrm>
        <a:graphic>
          <a:graphicData uri="http://schemas.openxmlformats.org/drawingml/2006/table">
            <a:tbl>
              <a:tblPr/>
              <a:tblGrid>
                <a:gridCol w="2560320"/>
                <a:gridCol w="11064240"/>
              </a:tblGrid>
              <a:tr h="530352">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결과 단위</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요청 회원과 완료월 1개</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30352">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EXPLAIN</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2026-10-15 기존 기록상 통과. 관리자 조사 권한 범위</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30352">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검증 한계</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실제 결과와 실행 성능 미검증. 업무 데이터 행 미조회</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bl>
          </a:graphicData>
        </a:graphic>
      </p:graphicFrame>
      <p:sp>
        <p:nvSpPr>
          <p:cNvPr id="7" name="Shape 4"/>
          <p:cNvSpPr/>
          <p:nvPr/>
        </p:nvSpPr>
        <p:spPr>
          <a:xfrm>
            <a:off x="509321" y="7388352"/>
            <a:ext cx="13624560" cy="0"/>
          </a:xfrm>
          <a:prstGeom prst="line">
            <a:avLst/>
          </a:prstGeom>
          <a:noFill/>
          <a:ln w="12700">
            <a:solidFill>
              <a:srgbClr val="E9ECF3"/>
            </a:solidFill>
            <a:prstDash val="solid"/>
          </a:ln>
        </p:spPr>
      </p:sp>
      <p:sp>
        <p:nvSpPr>
          <p:cNvPr id="8" name="Text 5"/>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fixed_query_candidates.json,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Q-07 최근 최대 90일의 일별 사용액</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요청 회원과 날짜 1개 단위의 고정 조회이며 기존 EXPLAIN 기록 보유</a:t>
            </a:r>
            <a:endParaRPr lang="en-US" sz="1800" dirty="0"/>
          </a:p>
        </p:txBody>
      </p:sp>
      <p:sp>
        <p:nvSpPr>
          <p:cNvPr id="4" name="Shape 2"/>
          <p:cNvSpPr/>
          <p:nvPr/>
        </p:nvSpPr>
        <p:spPr>
          <a:xfrm>
            <a:off x="509321" y="1737360"/>
            <a:ext cx="13624560" cy="3474720"/>
          </a:xfrm>
          <a:prstGeom prst="roundRect">
            <a:avLst>
              <a:gd name="adj" fmla="val 2105"/>
            </a:avLst>
          </a:prstGeom>
          <a:solidFill>
            <a:srgbClr val="F5F8FC"/>
          </a:solidFill>
          <a:ln w="12700">
            <a:solidFill>
              <a:srgbClr val="D9E0EC"/>
            </a:solidFill>
            <a:prstDash val="solid"/>
          </a:ln>
        </p:spPr>
      </p:sp>
      <p:sp>
        <p:nvSpPr>
          <p:cNvPr id="5" name="Text 3"/>
          <p:cNvSpPr/>
          <p:nvPr/>
        </p:nvSpPr>
        <p:spPr>
          <a:xfrm>
            <a:off x="728777" y="1938528"/>
            <a:ext cx="13185648" cy="3072384"/>
          </a:xfrm>
          <a:prstGeom prst="rect">
            <a:avLst/>
          </a:prstGeom>
          <a:noFill/>
          <a:ln/>
        </p:spPr>
        <p:txBody>
          <a:bodyPr wrap="square" lIns="0" tIns="0" rIns="0" bIns="0" rtlCol="0" anchor="t"/>
          <a:lstStyle/>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SELECT</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  usage_date, approved_amount, transaction_count</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FROM app.customer_daily_usage</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ORDER BY usage_date DESC</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LIMIT 90;</a:t>
            </a:r>
            <a:endParaRPr lang="en-US" sz="18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09321" y="5504688"/>
          <a:ext cx="13624560" cy="914400"/>
        </p:xfrm>
        <a:graphic>
          <a:graphicData uri="http://schemas.openxmlformats.org/drawingml/2006/table">
            <a:tbl>
              <a:tblPr/>
              <a:tblGrid>
                <a:gridCol w="2560320"/>
                <a:gridCol w="11064240"/>
              </a:tblGrid>
              <a:tr h="530352">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결과 단위</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요청 회원과 날짜 1개</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30352">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EXPLAIN</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2026-10-15 기존 기록상 통과. 관리자 조사 권한 범위</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30352">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검증 한계</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실제 결과와 실행 성능 미검증. 업무 데이터 행 미조회</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bl>
          </a:graphicData>
        </a:graphic>
      </p:graphicFrame>
      <p:sp>
        <p:nvSpPr>
          <p:cNvPr id="7" name="Shape 4"/>
          <p:cNvSpPr/>
          <p:nvPr/>
        </p:nvSpPr>
        <p:spPr>
          <a:xfrm>
            <a:off x="509321" y="7388352"/>
            <a:ext cx="13624560" cy="0"/>
          </a:xfrm>
          <a:prstGeom prst="line">
            <a:avLst/>
          </a:prstGeom>
          <a:noFill/>
          <a:ln w="12700">
            <a:solidFill>
              <a:srgbClr val="E9ECF3"/>
            </a:solidFill>
            <a:prstDash val="solid"/>
          </a:ln>
        </p:spPr>
      </p:sp>
      <p:sp>
        <p:nvSpPr>
          <p:cNvPr id="8" name="Text 5"/>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fixed_query_candidates.json,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Q-08 활성 카드 연회비와 사용액</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등록된 단일 View SQL을 정형 경로에서도 공통 검사 후 실행함</a:t>
            </a:r>
            <a:endParaRPr lang="en-US" sz="1800" dirty="0"/>
          </a:p>
        </p:txBody>
      </p:sp>
      <p:sp>
        <p:nvSpPr>
          <p:cNvPr id="4" name="Shape 2"/>
          <p:cNvSpPr/>
          <p:nvPr/>
        </p:nvSpPr>
        <p:spPr>
          <a:xfrm>
            <a:off x="509321" y="1737360"/>
            <a:ext cx="13624560" cy="3474720"/>
          </a:xfrm>
          <a:prstGeom prst="roundRect">
            <a:avLst>
              <a:gd name="adj" fmla="val 2105"/>
            </a:avLst>
          </a:prstGeom>
          <a:solidFill>
            <a:srgbClr val="F5F8FC"/>
          </a:solidFill>
          <a:ln w="12700">
            <a:solidFill>
              <a:srgbClr val="D9E0EC"/>
            </a:solidFill>
            <a:prstDash val="solid"/>
          </a:ln>
        </p:spPr>
      </p:sp>
      <p:sp>
        <p:nvSpPr>
          <p:cNvPr id="5" name="Text 3"/>
          <p:cNvSpPr/>
          <p:nvPr/>
        </p:nvSpPr>
        <p:spPr>
          <a:xfrm>
            <a:off x="728777" y="1938528"/>
            <a:ext cx="13185648" cy="3072384"/>
          </a:xfrm>
          <a:prstGeom prst="rect">
            <a:avLst/>
          </a:prstGeom>
          <a:noFill/>
          <a:ln/>
        </p:spPr>
        <p:txBody>
          <a:bodyPr wrap="square" lIns="0" tIns="0" rIns="0" bIns="0" rtlCol="0" anchor="t"/>
          <a:lstStyle/>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SELECT card_ref, product_name, brand,</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  product_effective_date, is_product_effective_on_base_date,</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  listed_annual_fee, usage_period_start, usage_period_end,</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  approved_amount_6m, transaction_count_6m,</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  covered_month_count, active_month_count</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FROM app.card_fee_usage_6m</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WHERE current_status = 'ACTIVE'</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ORDER BY listed_annual_fee DESC,</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  approved_amount_6m ASC, card_ref</a:t>
            </a:r>
            <a:endParaRPr lang="en-US" sz="1800" dirty="0"/>
          </a:p>
          <a:p>
            <a:pPr indent="0" marL="0">
              <a:lnSpc>
                <a:spcPct val="110000"/>
              </a:lnSpc>
              <a:buNone/>
            </a:pPr>
            <a:r>
              <a:rPr lang="en-US" sz="1800" dirty="0">
                <a:solidFill>
                  <a:srgbClr val="2B3242"/>
                </a:solidFill>
                <a:latin typeface="Pretendard" pitchFamily="34" charset="0"/>
                <a:ea typeface="Pretendard" pitchFamily="34" charset="-122"/>
                <a:cs typeface="Pretendard" pitchFamily="34" charset="-120"/>
              </a:rPr>
              <a:t>LIMIT 20;</a:t>
            </a:r>
            <a:endParaRPr lang="en-US" sz="18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509321" y="5504688"/>
          <a:ext cx="13624560" cy="914400"/>
        </p:xfrm>
        <a:graphic>
          <a:graphicData uri="http://schemas.openxmlformats.org/drawingml/2006/table">
            <a:tbl>
              <a:tblPr/>
              <a:tblGrid>
                <a:gridCol w="2560320"/>
                <a:gridCol w="11064240"/>
              </a:tblGrid>
              <a:tr h="530352">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결과 단위</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활성 카드 1개. 최대 20행</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30352">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해석</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자료상 연회비이며 실제 청구액이나 손익 아님</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30352">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검증 한계</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승인된 SQL 반영. 이번 v2 작성 중 실행과 성능 검증 미수행</a:t>
                      </a:r>
                      <a:endParaRPr lang="en-US" sz="1800" dirty="0">
                        <a:latin typeface="Pretendard" charset="0"/>
                        <a:ea typeface="Pretendard" charset="0"/>
                        <a:cs typeface="Pretendard" charset="0"/>
                      </a:endParaRPr>
                    </a:p>
                  </a:txBody>
                  <a:tcPr marL="127000" marR="127000" marT="76200" marB="76200">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bl>
          </a:graphicData>
        </a:graphic>
      </p:graphicFrame>
      <p:sp>
        <p:nvSpPr>
          <p:cNvPr id="7" name="Shape 4"/>
          <p:cNvSpPr/>
          <p:nvPr/>
        </p:nvSpPr>
        <p:spPr>
          <a:xfrm>
            <a:off x="509321" y="7388352"/>
            <a:ext cx="13624560" cy="0"/>
          </a:xfrm>
          <a:prstGeom prst="line">
            <a:avLst/>
          </a:prstGeom>
          <a:noFill/>
          <a:ln w="12700">
            <a:solidFill>
              <a:srgbClr val="E9ECF3"/>
            </a:solidFill>
            <a:prstDash val="solid"/>
          </a:ln>
        </p:spPr>
      </p:sp>
      <p:sp>
        <p:nvSpPr>
          <p:cNvPr id="8" name="Text 5"/>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승인 개선안과 DB 카탈로그, 2026-10-21</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SQL 검증 규칙 1: 구조</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금지어 검사에 더해 SQL의 문법 구조 전체를 확인함</a:t>
            </a:r>
            <a:endParaRPr lang="en-US" sz="18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59436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항목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설계값</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허용 문장</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단일 SELECT 1개. 끝 세미콜론 1개만 허용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조회 대상</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app 허용 뷰 1개와 해당 허용 컬럼</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허용 절</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WHERE, GROUP BY, HAVING, ORDER BY, LIMIT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행 제한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정수 상수 LIMIT 1 ~ 200 필수. OFFSET과 FETCH 제외</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컬럼 선택</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SELECT * 금지. COUNT(*)는 허용 집계 예외</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금지 구조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CTE, 서브쿼리, JOIN, 쉼표 조인, UNION, 집합 연산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금지 작업</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데이터 변경, DDL, 권한 변경, SET, COPY, SELECT INTO, 잠금</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참조 금지</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원본 테이블, app_internal, 시스템 카탈로그와 세션 변수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설계 결정 기록,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SQL 검증 규칙 2: 식과 실행</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모든 식과 이름을 확인하고 검사한 SQL 그대로 실행함</a:t>
            </a:r>
            <a:endParaRPr lang="en-US" sz="18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59436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항목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설계값</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허용 함수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COUNT, SUM, AVG, MIN, MAX, COALESCE, ROUND, DATE_TRUNC, TO_CHAR</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함수 해석</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허용된 pg_catalog 함수와 인자형으로 제한. 임의 함수 거부</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연산자</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비교, AND/OR/NOT, IS NULL, IN 상수목록, BETWEEN, 사칙연산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형변환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검증된 date와 numeric 상수만 허용. 사용자 정의 타입 제외</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제외 표현식</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CASE, 창 함수, 테이블 함수, 사용자 정의 연산자</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두 경로 공통</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동일 검증기 사용. 정형 Q-ID와 등록 SQL 해시 일치 확인</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실행 일치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validated_sql 고정. S-R5에서 해시 재확인 후 그대로 실행</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크기 상한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SQL 16KiB, 결과 200행/1MiB. 바이트값은 설계 가정</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설계 결정 기록,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DB 실행과 회원 범위</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인증된 회원만 세션에 설정하고 요청 후 연결에 범위를 남기지 않음</a:t>
            </a:r>
            <a:endParaRPr lang="en-US" sz="18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59436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항목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설계값</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회원 범위 출처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인증 계층이 접근 권한을 확인한 회원ID. 질문에서 추출 금지</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세션 변수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app.member_id, app.base_date, app.coverage_start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설정 방법</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같은 연결의 읽기 전용 트랜잭션에서 set_config(..., true)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지역 설정</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트랜잭션 종료 시 해제. 실패 연결과 오염 상태 확인</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읽기 전용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default_transaction_read_only=on 및 BEGIN READ ONLY</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RLS</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행 수준 보안: 회원별로 볼 수 있는 행을 제한하는 DB 규칙</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확인 근거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app_reader 비관리자 속성과 회원 SELECT 정책 4개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미검증 항목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sql_retriever_user의 원본 무권한, 두 회원 격리, 풀 재사용 안전성</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04 SQL와 db_catalog.json</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입력 필드와 공통 상태 1</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입구에서 만든 상태를 모든 단계가 그대로 이어받음</a:t>
            </a:r>
            <a:endParaRPr lang="en-US" sz="18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5303520"/>
                <a:gridCol w="8321040"/>
              </a:tblGrid>
              <a:tr h="668655">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필드(타입, 필수)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정의와 출처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question(string, 필수)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트리거 원본 질문. 최대 4KiB 설계 가정. 정제 후 폐기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auth_scope(AuthScope, 필수)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인증 주체와 조회 허용 회원. 인증 계층 제공</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config(Config, 필수)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정책 버전, 스키마, 고정 조회와 날짜. 서비스 제공</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request_id(string, 필수)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요청 입구가 생성한 추적값. 민감정보 포함 금지</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started_at(number, 필수)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요청 입구의 단조 시계 시작값. 단위 초</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deadline_at(number, 필수)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started_at + 30초인 절대 종료시각</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member_scope(string, 필수)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권한 검증을 통과한 회원ID. 내부 전용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설계 결정 기록,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입력 필드와 공통 상태 2</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정제 질문과 조회 정책을 S-R1에서 확정하고 이후에 넓히지 않음</a:t>
            </a:r>
            <a:endParaRPr lang="en-US" sz="18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5303520"/>
                <a:gridCol w="8321040"/>
              </a:tblGrid>
              <a:tr h="59436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필드(타입, 필수)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정의와 출처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base_date(date, 필수)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config의 신뢰된 데이터 기준일</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coverage_start(date, 필수)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config의 거래 제공 시작일</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question_clean(string, 필수)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개인 식별자 제거 완료 질문. S-R1 생성</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question_slots(object, 필수)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규칙 추출 기간, 지표, 단위. 불명확 값은 null</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schema_catalog(object, 필수)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8개 공개 뷰와 타입, 의미와 기간. 버전 고정</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query_catalog(object, 필수)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Q-01 ~ Q-08 SQL과 선택 조건. 버전 고정</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policy(object, 필수)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SQL 목록, 크기, 시간, 프롬프트 버전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error(Error|null, 필수)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정상은 null. 실패 단계에서 오류 객체 저장</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설계 결정 기록,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단계별 추가 상태와 계획</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모든 추가 필드는 Context 안에 저장되며 이전 공통 상태와 함께 전달함</a:t>
            </a:r>
            <a:endParaRPr lang="en-US" sz="18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5303520"/>
                <a:gridCol w="8321040"/>
              </a:tblGrid>
              <a:tr h="668655">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필드(타입, 필수 시점)</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정의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context.plan(Plan, S-R2 성공)</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모델 응답에 route와 query_id를 코드가 추가</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plan.route(string, S-R2)</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fixed 또는 nl2sql. 코드가 경로 결정</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plan.query_id(string|null, S-R2)</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고정 경로 Q-ID, 생성 경로 null</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context.plan_check(boolean, S-R3)</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기간, 지표, 단위와 뷰 적합성 통과</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context.validated_sql(string, S-R4)</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구문과 허용 범위 검사 통과 SQL</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context.sql_fingerprint(string, S-R4)</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검사 SQL 바이트의 SHA-256 해시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668655">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context.result(QueryResult, S-R5)</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조회 행, 컬럼, 단위, 적용 기간과 행 상한 정보</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설계 결정 기록,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결과와 응답 필드</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호출자는 행과 적용 기간을 함께 받아 조회 한계를 확인함</a:t>
            </a:r>
            <a:endParaRPr lang="en-US" sz="18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5303520"/>
                <a:gridCol w="8321040"/>
              </a:tblGrid>
              <a:tr h="59436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필드(타입, 필수)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정의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result.rows(array&lt;object&gt;)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허용 컬럼의 결과. 최대 200행과 1MiB</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result.columns(array&lt;object&gt;)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이름, DB 타입, 표시 단위. 통화 확인 전 currency=null</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result.grain(string)</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1행의 의미를 나타내는 결과 단위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result.period(object|null)</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조회 적용 시작일/종료일. 기간 없는 조회는 null</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result.completeness(string)</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complete 또는 limit_reached_more_unknown. 상한 도달 시 후자</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Response.request_id / status</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string / success 또는 error</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Response.data / error</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성공 QueryResult 또는 Error. 하나만 값 보유</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Response.meta(object)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기준일, 제공 시작일, 경로, Q-ID, warnings 배열</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설계 결정 기록,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오류 응답 1: 요청과 계획</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호출자에게 재입력에 필요한 설명만 반환함</a:t>
            </a:r>
            <a:endParaRPr lang="en-US" sz="18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3474720"/>
                <a:gridCol w="3200400"/>
                <a:gridCol w="6949440"/>
              </a:tblGrid>
              <a:tr h="668655">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오류 코드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HTTP / 단계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호출자 메시지</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668655">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INVALID_REQUEST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400 / S-R1</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질문과 필수 입력을 확인해 주세요</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668655">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UNAUTHORIZED_SCOPE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403 / S-R1</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조회 권한이 없습니다</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668655">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PRIVACY_REJECTED</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422 / S-R1</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개인정보를 제외하고 다시 입력해 주세요</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668655">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CONFIG_UNAVAILABLE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503 / S-R1</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조회 기준 정보를 준비하지 못했습니다</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668655">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AMBIGUOUS_REQUEST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422 / S-R2, S-R3</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기간과 항목을 구체적으로 입력해 주세요</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668655">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UNSUPPORTED_REQUEST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422 / S-R2, S-R3</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현재 제공하는 조회 범위를 벗어났습니다</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668655">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INVALID_MODEL_OUTPUT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502 / S-R2</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조회 계획을 만들지 못했습니다</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설계 결정 기록,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오류 응답 2: 검증과 실행</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불완전한 SQL이나 실행 결과를 성공으로 바꾸지 않음</a:t>
            </a:r>
            <a:endParaRPr lang="en-US" sz="18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3474720"/>
                <a:gridCol w="3200400"/>
                <a:gridCol w="6949440"/>
              </a:tblGrid>
              <a:tr h="668655">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오류 코드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HTTP / 단계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호출자 메시지</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668655">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SQL_REJECTED</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422 / S-R4</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안전하게 실행할 수 없는 조회입니다</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668655">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UPSTREAM_TIMEOUT</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504 / S-R2</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조회 계획 생성 시간이 초과되었습니다</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668655">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UPSTREAM_UNAVAILABLE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503 / S-R2</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조회 계획 서비스를 사용할 수 없습니다</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668655">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TIME_BUDGET_EXCEEDED</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504 / S-R1 ~ S-R5</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검색 처리 시간이 초과되었습니다</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668655">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DB_EXECUTION_FAILED</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503 / S-R5</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조회 중 오류가 발생했습니다</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668655">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RESULT_TOO_LARGE</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422 / S-R5</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조회 범위를 줄여 다시 요청해 주세요</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668655">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RESPONSE_FAILED</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500 / S-R6</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응답을 구성하지 못했습니다</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설계 결정 기록, 2026-10-15</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2"/>
          <p:cNvSpPr/>
          <p:nvPr>
            <p:ph type="title" hasCustomPrompt="1"/>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부록 | 설계 점검표</a:t>
            </a:r>
            <a:endParaRPr lang="en-US" sz="3200" dirty="0"/>
          </a:p>
        </p:txBody>
      </p:sp>
      <p:sp>
        <p:nvSpPr>
          <p:cNvPr id="3" name="Text 1"/>
          <p:cNvSpPr/>
          <p:nvPr/>
        </p:nvSpPr>
        <p:spPr>
          <a:xfrm>
            <a:off x="509321" y="1151230"/>
            <a:ext cx="13624560" cy="384048"/>
          </a:xfrm>
          <a:prstGeom prst="rect">
            <a:avLst/>
          </a:prstGeom>
          <a:noFill/>
          <a:ln/>
        </p:spPr>
        <p:txBody>
          <a:bodyPr wrap="square" lIns="0" tIns="0" rIns="0" bIns="0" rtlCol="0" anchor="ctr"/>
          <a:lstStyle/>
          <a:p>
            <a:pPr indent="0" marL="0">
              <a:buNone/>
            </a:pPr>
            <a:r>
              <a:rPr lang="en-US" sz="1800" b="1" dirty="0">
                <a:solidFill>
                  <a:srgbClr val="000000"/>
                </a:solidFill>
                <a:latin typeface="Pretendard" pitchFamily="34" charset="0"/>
                <a:ea typeface="Pretendard" pitchFamily="34" charset="-122"/>
                <a:cs typeface="Pretendard" pitchFamily="34" charset="-120"/>
              </a:rPr>
              <a:t>설계 확인과 구현 후 확인할 항목을 분리함</a:t>
            </a:r>
            <a:endParaRPr lang="en-US" sz="18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594360">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점검 항목</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상태와 근거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E2EEF9"/>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6단계와 연결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S-R1 → S-R6 순서, 오류는 S-R6 합류</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입출력 필드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S-R1 공통 상태와 단계별 추가 필드로 연결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시간 계산</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정형 14초, NL2SQL 29초. 전체 30초 이내 설계 상한, 실측 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정형 SQL</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Q-01 ~ Q-07은 기존 EXPLAIN 기록. Q-08은 승인된 SQL 반영</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뷰 접근</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2026-10-21 관리자에서 12개 LIMIT 0 통과. 공개 허용 8개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회원 격리와 권한</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정책 메타데이터 확인. 격리와 최소 권한 실행 미검증</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실측 필요</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30초 종료, DB 취소, 크기 상한, 정제와 의미 판정</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FFFFF"/>
                    </a:solidFill>
                  </a:tcPr>
                </a:tc>
              </a:tr>
              <a:tr h="594360">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운영 전 확정</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날짜 신선도, 통화 단위, Groq 조직별 한도</a:t>
                      </a:r>
                      <a:endParaRPr lang="en-US" sz="1800" dirty="0">
                        <a:latin typeface="Pretendard" charset="0"/>
                        <a:ea typeface="Pretendard" charset="0"/>
                        <a:cs typeface="Pretendard" charset="0"/>
                      </a:endParaRPr>
                    </a:p>
                  </a:txBody>
                  <a:tcPr marL="127000" marR="127000" marT="76200" marB="76200" anchor="ctr">
                    <a:lnL w="9525" cap="flat" cmpd="sng" algn="ctr">
                      <a:solidFill>
                        <a:srgbClr val="EDF0F6"/>
                      </a:solidFill>
                      <a:prstDash val="solid"/>
                      <a:round/>
                      <a:headEnd type="none" w="med" len="med"/>
                      <a:tailEnd type="none" w="med" len="med"/>
                    </a:lnL>
                    <a:lnR w="9525" cap="flat" cmpd="sng" algn="ctr">
                      <a:solidFill>
                        <a:srgbClr val="EDF0F6"/>
                      </a:solidFill>
                      <a:prstDash val="solid"/>
                      <a:round/>
                      <a:headEnd type="none" w="med" len="med"/>
                      <a:tailEnd type="none" w="med" len="med"/>
                    </a:lnR>
                    <a:lnT w="9525" cap="flat" cmpd="sng" algn="ctr">
                      <a:solidFill>
                        <a:srgbClr val="EDF0F6"/>
                      </a:solidFill>
                      <a:prstDash val="solid"/>
                      <a:round/>
                      <a:headEnd type="none" w="med" len="med"/>
                      <a:tailEnd type="none" w="med" len="med"/>
                    </a:lnT>
                    <a:lnB w="9525"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Shape 2"/>
          <p:cNvSpPr/>
          <p:nvPr/>
        </p:nvSpPr>
        <p:spPr>
          <a:xfrm>
            <a:off x="509321" y="7388352"/>
            <a:ext cx="13624560" cy="0"/>
          </a:xfrm>
          <a:prstGeom prst="line">
            <a:avLst/>
          </a:prstGeom>
          <a:noFill/>
          <a:ln w="12700">
            <a:solidFill>
              <a:srgbClr val="E9ECF3"/>
            </a:solidFill>
            <a:prstDash val="solid"/>
          </a:ln>
        </p:spPr>
      </p:sp>
      <p:sp>
        <p:nvSpPr>
          <p:cNvPr id="6" name="Text 3"/>
          <p:cNvSpPr/>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승인 개선안과 기존 검증 증거, 2026-10-21</a:t>
            </a:r>
            <a:endParaRPr lang="en-US" sz="1400" dirty="0"/>
          </a:p>
        </p:txBody>
      </p:sp>
      <p:sp>
        <p:nvSpPr>
          <p:cNvPr id="25" name="Slide Number Placeholder 0"/>
          <p:cNvSpPr>
            <a:spLocks noGrp="1"/>
          </p:cNvSpPr>
          <p:nvPr>
            <p:ph type="sldNum" sz="quarter"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62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retendard"/>
        <a:ea typeface="Pretendard"/>
        <a:cs typeface="Pretendard"/>
        <a:font script="Jpan" typeface="Pretendard"/>
        <a:font script="Hang" typeface="Pretendard"/>
        <a:font script="Hans" typeface="Pretendard"/>
        <a:font script="Hant" typeface="Pretendard"/>
        <a:font script="Arab" typeface="Pretendard"/>
        <a:font script="Hebr" typeface="Pretendard"/>
        <a:font script="Thai" typeface="Pretendard"/>
        <a:font script="Ethi" typeface="Pretendard"/>
        <a:font script="Beng" typeface="Pretendard"/>
        <a:font script="Gujr" typeface="Pretendard"/>
        <a:font script="Khmr" typeface="Pretendard"/>
        <a:font script="Knda" typeface="Pretendard"/>
        <a:font script="Guru" typeface="Pretendard"/>
        <a:font script="Cans" typeface="Pretendard"/>
        <a:font script="Cher" typeface="Pretendard"/>
        <a:font script="Yiii" typeface="Pretendard"/>
        <a:font script="Tibt" typeface="Pretendard"/>
        <a:font script="Thaa" typeface="Pretendard"/>
        <a:font script="Deva" typeface="Pretendard"/>
        <a:font script="Telu" typeface="Pretendard"/>
        <a:font script="Taml" typeface="Pretendard"/>
        <a:font script="Syrc" typeface="Pretendard"/>
        <a:font script="Orya" typeface="Pretendard"/>
        <a:font script="Mlym" typeface="Pretendard"/>
        <a:font script="Laoo" typeface="Pretendard"/>
        <a:font script="Sinh" typeface="Pretendard"/>
        <a:font script="Mong" typeface="Pretendard"/>
        <a:font script="Viet" typeface="Pretendard"/>
        <a:font script="Uigh" typeface="Pretendard"/>
        <a:font script="Geor" typeface="Pretendard"/>
        <a:font script="Armn" typeface="Pretendard"/>
        <a:font script="Bugi" typeface="Pretendard"/>
        <a:font script="Bopo" typeface="Pretendard"/>
        <a:font script="Java" typeface="Pretendard"/>
        <a:font script="Lisu" typeface="Pretendard"/>
        <a:font script="Mymr" typeface="Pretendard"/>
        <a:font script="Nkoo" typeface="Pretendard"/>
        <a:font script="Olck" typeface="Pretendard"/>
        <a:font script="Osma" typeface="Pretendard"/>
        <a:font script="Phag" typeface="Pretendard"/>
        <a:font script="Syrn" typeface="Pretendard"/>
        <a:font script="Syrj" typeface="Pretendard"/>
        <a:font script="Syre" typeface="Pretendard"/>
        <a:font script="Sora" typeface="Pretendard"/>
        <a:font script="Tale" typeface="Pretendard"/>
        <a:font script="Talu" typeface="Pretendard"/>
        <a:font script="Tfng" typeface="Pretendard"/>
      </a:majorFont>
      <a:minorFont>
        <a:latin typeface="Pretendard"/>
        <a:ea typeface="Pretendard"/>
        <a:cs typeface="Pretendard"/>
        <a:font script="Jpan" typeface="Pretendard"/>
        <a:font script="Hang" typeface="Pretendard"/>
        <a:font script="Hans" typeface="Pretendard"/>
        <a:font script="Hant" typeface="Pretendard"/>
        <a:font script="Arab" typeface="Pretendard"/>
        <a:font script="Hebr" typeface="Pretendard"/>
        <a:font script="Thai" typeface="Pretendard"/>
        <a:font script="Ethi" typeface="Pretendard"/>
        <a:font script="Beng" typeface="Pretendard"/>
        <a:font script="Gujr" typeface="Pretendard"/>
        <a:font script="Khmr" typeface="Pretendard"/>
        <a:font script="Knda" typeface="Pretendard"/>
        <a:font script="Guru" typeface="Pretendard"/>
        <a:font script="Cans" typeface="Pretendard"/>
        <a:font script="Cher" typeface="Pretendard"/>
        <a:font script="Yiii" typeface="Pretendard"/>
        <a:font script="Tibt" typeface="Pretendard"/>
        <a:font script="Thaa" typeface="Pretendard"/>
        <a:font script="Deva" typeface="Pretendard"/>
        <a:font script="Telu" typeface="Pretendard"/>
        <a:font script="Taml" typeface="Pretendard"/>
        <a:font script="Syrc" typeface="Pretendard"/>
        <a:font script="Orya" typeface="Pretendard"/>
        <a:font script="Mlym" typeface="Pretendard"/>
        <a:font script="Laoo" typeface="Pretendard"/>
        <a:font script="Sinh" typeface="Pretendard"/>
        <a:font script="Mong" typeface="Pretendard"/>
        <a:font script="Viet" typeface="Pretendard"/>
        <a:font script="Uigh" typeface="Pretendard"/>
        <a:font script="Geor" typeface="Pretendard"/>
        <a:font script="Armn" typeface="Pretendard"/>
        <a:font script="Bugi" typeface="Pretendard"/>
        <a:font script="Bopo" typeface="Pretendard"/>
        <a:font script="Java" typeface="Pretendard"/>
        <a:font script="Lisu" typeface="Pretendard"/>
        <a:font script="Mymr" typeface="Pretendard"/>
        <a:font script="Nkoo" typeface="Pretendard"/>
        <a:font script="Olck" typeface="Pretendard"/>
        <a:font script="Osma" typeface="Pretendard"/>
        <a:font script="Phag" typeface="Pretendard"/>
        <a:font script="Syrn" typeface="Pretendard"/>
        <a:font script="Syrj" typeface="Pretendard"/>
        <a:font script="Syre" typeface="Pretendard"/>
        <a:font script="Sora" typeface="Pretendard"/>
        <a:font script="Tale" typeface="Pretendard"/>
        <a:font script="Talu" typeface="Pretendard"/>
        <a:font script="Tfng" typeface="Pretendard"/>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62</Slides>
  <Notes>62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62</vt:i4>
      </vt:variant>
    </vt:vector>
  </HeadingPairs>
  <TitlesOfParts>
    <vt:vector size="6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vector>
  </TitlesOfParts>
  <Company>law-consult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 검색기 워크플로우 설계서</dc:title>
  <dc:subject>SQL 검색기 워크플로우 설계</dc:subject>
  <dc:creator>law-consult</dc:creator>
  <cp:lastModifiedBy>law-consult</cp:lastModifiedBy>
  <cp:revision>1</cp:revision>
  <dcterms:created xsi:type="dcterms:W3CDTF">2026-10-21T08:34:56Z</dcterms:created>
  <dcterms:modified xsi:type="dcterms:W3CDTF">2026-10-21T08:34:56Z</dcterms:modified>
</cp:coreProperties>
</file>